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Mimosa-AI evolution loop with the Policy-BT verifier. A task goal, input data and available scientific tools condition LLM synthesis of a custom multi-agent workflow as executable Python (the genotype). Initialization can include multiple seed generations before parent-driven variation. The runner resets the workspace to its initial state, executes the workflow through the sandboxed runner and saves the produced artifacts. Policy-BT takes owned snapshots, assesses a mandatory reproduction script and, by default, reruns it in a fresh virtual environment. Goal-grounded reconnaissance fixes the comparison criteria and builds schema adapters. A cached deterministic Python policy compares each pair of generation workspaces; relevant images can resolve code ties only with agreement across both presentation orders. A regularized Bradley–Terry fit over all pair outcomes refreshes the current rewards of every generation. The default quality–diversity search combines those rewards with genotype-embedding novelty and a code-length penalty, admits survivors and selects parents. Mutation converts the selected parent’s diagnosis and search state into a directive for the code-generating LLM; crossover recombines selected parent workflows and their feedback without a separate mutation-directive call. Thus the next candidate need not descend from the most recent generation. The loop continues until the configured stopping rule or generation limit. With Policy-BT auto stopping, the rule is a head-to-head champion plateau after the minimum iteration count. The final workspace is restored from the generation with the highest current Bradley–Terry rating, not necessarily the last generation or the stopping controller’s champion. The diagram shows the successful generation path: generation/execution failures and verifier instrument errors are unscored and excluded from QD admission; reproduction-ineligible generations receive a published reward of zero and still contribute admission pair outcomes to the tournament. Verifier reruns are trusted local shell execution, not the workflow sandbox. Planner mode supplies task goals to this per-task loop; the planner is optional and outside the loop. The mini agent graph is schematic, not a fixed agent count or topology.</a:t>
            </a:r>
          </a:p>
          <a:p/>
          <a:p>
            <a:r>
              <a:t>Sources: sources/core/evolution_engine.py:125–161,407–467,941–1029,1070–1209,1246–1364; sources/core/selection.py:341–364,750–780; sources/core/variation_engine.py:731–900; sources/core/stopping.py:42–60; docs/concepts/evaluation-pipeline.md:35–141. Source checked 2026-10-16. Native editable text, shapes and connectors.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38784" y="198882"/>
            <a:ext cx="10643615" cy="390906"/>
          </a:xfrm>
          <a:prstGeom prst="rect">
            <a:avLst/>
          </a:prstGeom>
          <a:noFill/>
        </p:spPr>
        <p:txBody>
          <a:bodyPr wrap="none" lIns="0" rIns="0" tIns="0" bIns="0">
            <a:spAutoFit/>
          </a:bodyPr>
          <a:lstStyle/>
          <a:p>
            <a:pPr>
              <a:spcBef>
                <a:spcPts val="0"/>
              </a:spcBef>
              <a:spcAft>
                <a:spcPts val="0"/>
              </a:spcAft>
              <a:defRPr sz="2052" b="1">
                <a:solidFill>
                  <a:srgbClr val="182C40"/>
                </a:solidFill>
                <a:latin typeface="Arial"/>
              </a:defRPr>
            </a:pPr>
            <a:r>
              <a:t>Mimosa-AI: evolving scientific workflows with Policy-BT</a:t>
            </a:r>
          </a:p>
        </p:txBody>
      </p:sp>
      <p:sp>
        <p:nvSpPr>
          <p:cNvPr id="3" name="TextBox 2"/>
          <p:cNvSpPr txBox="1"/>
          <p:nvPr/>
        </p:nvSpPr>
        <p:spPr>
          <a:xfrm>
            <a:off x="938784" y="569214"/>
            <a:ext cx="10643615"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Code is the genotype. Workspace artifacts are the evidence. Selection and feedback drive the next generation.</a:t>
            </a:r>
          </a:p>
        </p:txBody>
      </p:sp>
      <p:sp>
        <p:nvSpPr>
          <p:cNvPr id="4" name="Rounded Rectangle 3"/>
          <p:cNvSpPr/>
          <p:nvPr/>
        </p:nvSpPr>
        <p:spPr>
          <a:xfrm>
            <a:off x="938784" y="939546"/>
            <a:ext cx="6391656" cy="466344"/>
          </a:xfrm>
          <a:prstGeom prst="roundRect">
            <a:avLst>
              <a:gd name="adj" fmla="val 17647"/>
            </a:avLst>
          </a:prstGeom>
          <a:solidFill>
            <a:srgbClr val="EDF8F6"/>
          </a:solidFill>
          <a:ln w="1028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660" y="1014984"/>
            <a:ext cx="10492740" cy="257175"/>
          </a:xfrm>
          <a:prstGeom prst="rect">
            <a:avLst/>
          </a:prstGeom>
          <a:noFill/>
        </p:spPr>
        <p:txBody>
          <a:bodyPr wrap="none" lIns="0" rIns="0" tIns="0" bIns="0">
            <a:spAutoFit/>
          </a:bodyPr>
          <a:lstStyle/>
          <a:p>
            <a:pPr>
              <a:spcBef>
                <a:spcPts val="0"/>
              </a:spcBef>
              <a:spcAft>
                <a:spcPts val="0"/>
              </a:spcAft>
              <a:defRPr sz="1350" b="1">
                <a:solidFill>
                  <a:srgbClr val="087F82"/>
                </a:solidFill>
                <a:latin typeface="Arial"/>
              </a:defRPr>
            </a:pPr>
            <a:r>
              <a:t>Task goal + input data</a:t>
            </a:r>
          </a:p>
        </p:txBody>
      </p:sp>
      <p:sp>
        <p:nvSpPr>
          <p:cNvPr id="6" name="TextBox 5"/>
          <p:cNvSpPr txBox="1"/>
          <p:nvPr/>
        </p:nvSpPr>
        <p:spPr>
          <a:xfrm>
            <a:off x="3366516" y="1028700"/>
            <a:ext cx="8215884" cy="216027"/>
          </a:xfrm>
          <a:prstGeom prst="rect">
            <a:avLst/>
          </a:prstGeom>
          <a:noFill/>
        </p:spPr>
        <p:txBody>
          <a:bodyPr wrap="none" lIns="0" rIns="0" tIns="0" bIns="0">
            <a:spAutoFit/>
          </a:bodyPr>
          <a:lstStyle/>
          <a:p>
            <a:pPr>
              <a:spcBef>
                <a:spcPts val="0"/>
              </a:spcBef>
              <a:spcAft>
                <a:spcPts val="0"/>
              </a:spcAft>
              <a:defRPr sz="1134" b="0">
                <a:solidFill>
                  <a:srgbClr val="087F82"/>
                </a:solidFill>
                <a:latin typeface="Arial"/>
              </a:defRPr>
            </a:pPr>
            <a:r>
              <a:t>Scientific tools via MCP · optional literature grounding</a:t>
            </a:r>
          </a:p>
        </p:txBody>
      </p:sp>
      <p:cxnSp>
        <p:nvCxnSpPr>
          <p:cNvPr id="7" name="Connector 6"/>
          <p:cNvCxnSpPr/>
          <p:nvPr/>
        </p:nvCxnSpPr>
        <p:spPr>
          <a:xfrm>
            <a:off x="2413254" y="1405890"/>
            <a:ext cx="0" cy="226314"/>
          </a:xfrm>
          <a:prstGeom prst="line">
            <a:avLst/>
          </a:prstGeom>
          <a:ln w="17145">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855970" y="1405890"/>
            <a:ext cx="0" cy="226314"/>
          </a:xfrm>
          <a:prstGeom prst="line">
            <a:avLst/>
          </a:prstGeom>
          <a:ln w="17145">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38784" y="1632204"/>
            <a:ext cx="2948940" cy="1611630"/>
          </a:xfrm>
          <a:prstGeom prst="roundRect">
            <a:avLst>
              <a:gd name="adj" fmla="val 6808"/>
            </a:avLst>
          </a:prstGeom>
          <a:solidFill>
            <a:srgbClr val="FFFFFF"/>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34796" y="1735074"/>
            <a:ext cx="205740" cy="205740"/>
          </a:xfrm>
          <a:prstGeom prst="ellipse">
            <a:avLst/>
          </a:prstGeom>
          <a:solidFill>
            <a:srgbClr val="2463A5"/>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2802" y="1748790"/>
            <a:ext cx="10499598" cy="195453"/>
          </a:xfrm>
          <a:prstGeom prst="rect">
            <a:avLst/>
          </a:prstGeom>
          <a:noFill/>
        </p:spPr>
        <p:txBody>
          <a:bodyPr wrap="none" lIns="0" rIns="0" tIns="0" bIns="0">
            <a:spAutoFit/>
          </a:bodyPr>
          <a:lstStyle/>
          <a:p>
            <a:pPr>
              <a:spcBef>
                <a:spcPts val="0"/>
              </a:spcBef>
              <a:spcAft>
                <a:spcPts val="0"/>
              </a:spcAft>
              <a:defRPr sz="1026" b="1">
                <a:solidFill>
                  <a:srgbClr val="FFFFFF"/>
                </a:solidFill>
                <a:latin typeface="Arial"/>
              </a:defRPr>
            </a:pPr>
            <a:r>
              <a:t>1</a:t>
            </a:r>
          </a:p>
        </p:txBody>
      </p:sp>
      <p:sp>
        <p:nvSpPr>
          <p:cNvPr id="12" name="TextBox 11"/>
          <p:cNvSpPr txBox="1"/>
          <p:nvPr/>
        </p:nvSpPr>
        <p:spPr>
          <a:xfrm>
            <a:off x="1309116" y="1721358"/>
            <a:ext cx="10273284" cy="257175"/>
          </a:xfrm>
          <a:prstGeom prst="rect">
            <a:avLst/>
          </a:prstGeom>
          <a:noFill/>
        </p:spPr>
        <p:txBody>
          <a:bodyPr wrap="none" lIns="0" rIns="0" tIns="0" bIns="0">
            <a:spAutoFit/>
          </a:bodyPr>
          <a:lstStyle/>
          <a:p>
            <a:pPr>
              <a:spcBef>
                <a:spcPts val="0"/>
              </a:spcBef>
              <a:spcAft>
                <a:spcPts val="0"/>
              </a:spcAft>
              <a:defRPr sz="1350" b="1">
                <a:solidFill>
                  <a:srgbClr val="182C40"/>
                </a:solidFill>
                <a:latin typeface="Arial"/>
              </a:defRPr>
            </a:pPr>
            <a:r>
              <a:t>Synthesize a workflow</a:t>
            </a:r>
          </a:p>
        </p:txBody>
      </p:sp>
      <p:sp>
        <p:nvSpPr>
          <p:cNvPr id="13" name="TextBox 12"/>
          <p:cNvSpPr txBox="1"/>
          <p:nvPr/>
        </p:nvSpPr>
        <p:spPr>
          <a:xfrm>
            <a:off x="1103376" y="2064258"/>
            <a:ext cx="10479024" cy="277749"/>
          </a:xfrm>
          <a:prstGeom prst="rect">
            <a:avLst/>
          </a:prstGeom>
          <a:noFill/>
        </p:spPr>
        <p:txBody>
          <a:bodyPr wrap="none" lIns="0" rIns="0" tIns="0" bIns="0">
            <a:spAutoFit/>
          </a:bodyPr>
          <a:lstStyle/>
          <a:p>
            <a:pPr>
              <a:spcBef>
                <a:spcPts val="0"/>
              </a:spcBef>
              <a:spcAft>
                <a:spcPts val="0"/>
              </a:spcAft>
              <a:defRPr sz="1458" b="1">
                <a:solidFill>
                  <a:srgbClr val="2463A5"/>
                </a:solidFill>
                <a:latin typeface="Arial"/>
              </a:defRPr>
            </a:pPr>
            <a:r>
              <a:t>LLM → executable Python</a:t>
            </a:r>
          </a:p>
        </p:txBody>
      </p:sp>
      <p:sp>
        <p:nvSpPr>
          <p:cNvPr id="14" name="TextBox 13"/>
          <p:cNvSpPr txBox="1"/>
          <p:nvPr/>
        </p:nvSpPr>
        <p:spPr>
          <a:xfrm>
            <a:off x="1103376" y="2359152"/>
            <a:ext cx="10479024" cy="216027"/>
          </a:xfrm>
          <a:prstGeom prst="rect">
            <a:avLst/>
          </a:prstGeom>
          <a:noFill/>
        </p:spPr>
        <p:txBody>
          <a:bodyPr wrap="none" lIns="0" rIns="0" tIns="0" bIns="0">
            <a:spAutoFit/>
          </a:bodyPr>
          <a:lstStyle/>
          <a:p>
            <a:pPr>
              <a:spcBef>
                <a:spcPts val="0"/>
              </a:spcBef>
              <a:spcAft>
                <a:spcPts val="0"/>
              </a:spcAft>
              <a:defRPr sz="1134" b="0">
                <a:solidFill>
                  <a:srgbClr val="526779"/>
                </a:solidFill>
                <a:latin typeface="Arial"/>
              </a:defRPr>
            </a:pPr>
            <a:r>
              <a:t>Agents, prompts, tools and control flow</a:t>
            </a:r>
          </a:p>
        </p:txBody>
      </p:sp>
      <p:sp>
        <p:nvSpPr>
          <p:cNvPr id="15" name="TextBox 14"/>
          <p:cNvSpPr txBox="1"/>
          <p:nvPr/>
        </p:nvSpPr>
        <p:spPr>
          <a:xfrm>
            <a:off x="1103376" y="2578608"/>
            <a:ext cx="10479024" cy="216027"/>
          </a:xfrm>
          <a:prstGeom prst="rect">
            <a:avLst/>
          </a:prstGeom>
          <a:noFill/>
        </p:spPr>
        <p:txBody>
          <a:bodyPr wrap="none" lIns="0" rIns="0" tIns="0" bIns="0">
            <a:spAutoFit/>
          </a:bodyPr>
          <a:lstStyle/>
          <a:p>
            <a:pPr>
              <a:spcBef>
                <a:spcPts val="0"/>
              </a:spcBef>
              <a:spcAft>
                <a:spcPts val="0"/>
              </a:spcAft>
              <a:defRPr sz="1134" b="0">
                <a:solidFill>
                  <a:srgbClr val="526779"/>
                </a:solidFill>
                <a:latin typeface="Arial"/>
              </a:defRPr>
            </a:pPr>
            <a:r>
              <a:t>Seed / template during initialization</a:t>
            </a:r>
          </a:p>
        </p:txBody>
      </p:sp>
      <p:sp>
        <p:nvSpPr>
          <p:cNvPr id="16" name="Oval 15"/>
          <p:cNvSpPr/>
          <p:nvPr/>
        </p:nvSpPr>
        <p:spPr>
          <a:xfrm>
            <a:off x="1144523" y="2866644"/>
            <a:ext cx="192024" cy="192024"/>
          </a:xfrm>
          <a:prstGeom prst="ellipse">
            <a:avLst/>
          </a:prstGeom>
          <a:solidFill>
            <a:srgbClr val="EFF5FC"/>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850898" y="2866644"/>
            <a:ext cx="192024" cy="192024"/>
          </a:xfrm>
          <a:prstGeom prst="ellipse">
            <a:avLst/>
          </a:prstGeom>
          <a:solidFill>
            <a:srgbClr val="EFF5FC"/>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557272" y="2866644"/>
            <a:ext cx="192024" cy="192024"/>
          </a:xfrm>
          <a:prstGeom prst="ellipse">
            <a:avLst/>
          </a:prstGeom>
          <a:solidFill>
            <a:srgbClr val="EFF5FC"/>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270504" y="2866644"/>
            <a:ext cx="192024" cy="192024"/>
          </a:xfrm>
          <a:prstGeom prst="ellipse">
            <a:avLst/>
          </a:prstGeom>
          <a:solidFill>
            <a:srgbClr val="EFF5FC"/>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336548" y="2962656"/>
            <a:ext cx="514350" cy="0"/>
          </a:xfrm>
          <a:prstGeom prst="line">
            <a:avLst/>
          </a:prstGeom>
          <a:ln w="13716">
            <a:solidFill>
              <a:srgbClr val="2463A5"/>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042922" y="2962656"/>
            <a:ext cx="514350" cy="0"/>
          </a:xfrm>
          <a:prstGeom prst="line">
            <a:avLst/>
          </a:prstGeom>
          <a:ln w="13716">
            <a:solidFill>
              <a:srgbClr val="2463A5"/>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49296" y="2962656"/>
            <a:ext cx="514350" cy="0"/>
          </a:xfrm>
          <a:prstGeom prst="line">
            <a:avLst/>
          </a:prstGeom>
          <a:ln w="13716">
            <a:solidFill>
              <a:srgbClr val="2463A5"/>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71956" y="2873502"/>
            <a:ext cx="10410444" cy="185166"/>
          </a:xfrm>
          <a:prstGeom prst="rect">
            <a:avLst/>
          </a:prstGeom>
          <a:noFill/>
        </p:spPr>
        <p:txBody>
          <a:bodyPr wrap="none" lIns="0" rIns="0" tIns="0" bIns="0">
            <a:spAutoFit/>
          </a:bodyPr>
          <a:lstStyle/>
          <a:p>
            <a:pPr>
              <a:spcBef>
                <a:spcPts val="0"/>
              </a:spcBef>
              <a:spcAft>
                <a:spcPts val="0"/>
              </a:spcAft>
              <a:defRPr sz="971" b="1">
                <a:solidFill>
                  <a:srgbClr val="2463A5"/>
                </a:solidFill>
                <a:latin typeface="Arial"/>
              </a:defRPr>
            </a:pPr>
            <a:r>
              <a:t>A</a:t>
            </a:r>
          </a:p>
        </p:txBody>
      </p:sp>
      <p:sp>
        <p:nvSpPr>
          <p:cNvPr id="24" name="TextBox 23"/>
          <p:cNvSpPr txBox="1"/>
          <p:nvPr/>
        </p:nvSpPr>
        <p:spPr>
          <a:xfrm>
            <a:off x="1878330" y="2873502"/>
            <a:ext cx="9704070" cy="185166"/>
          </a:xfrm>
          <a:prstGeom prst="rect">
            <a:avLst/>
          </a:prstGeom>
          <a:noFill/>
        </p:spPr>
        <p:txBody>
          <a:bodyPr wrap="none" lIns="0" rIns="0" tIns="0" bIns="0">
            <a:spAutoFit/>
          </a:bodyPr>
          <a:lstStyle/>
          <a:p>
            <a:pPr>
              <a:spcBef>
                <a:spcPts val="0"/>
              </a:spcBef>
              <a:spcAft>
                <a:spcPts val="0"/>
              </a:spcAft>
              <a:defRPr sz="971" b="1">
                <a:solidFill>
                  <a:srgbClr val="2463A5"/>
                </a:solidFill>
                <a:latin typeface="Arial"/>
              </a:defRPr>
            </a:pPr>
            <a:r>
              <a:t>B</a:t>
            </a:r>
          </a:p>
        </p:txBody>
      </p:sp>
      <p:sp>
        <p:nvSpPr>
          <p:cNvPr id="25" name="TextBox 24"/>
          <p:cNvSpPr txBox="1"/>
          <p:nvPr/>
        </p:nvSpPr>
        <p:spPr>
          <a:xfrm>
            <a:off x="2584704" y="2873502"/>
            <a:ext cx="8997696" cy="185166"/>
          </a:xfrm>
          <a:prstGeom prst="rect">
            <a:avLst/>
          </a:prstGeom>
          <a:noFill/>
        </p:spPr>
        <p:txBody>
          <a:bodyPr wrap="none" lIns="0" rIns="0" tIns="0" bIns="0">
            <a:spAutoFit/>
          </a:bodyPr>
          <a:lstStyle/>
          <a:p>
            <a:pPr>
              <a:spcBef>
                <a:spcPts val="0"/>
              </a:spcBef>
              <a:spcAft>
                <a:spcPts val="0"/>
              </a:spcAft>
              <a:defRPr sz="971" b="1">
                <a:solidFill>
                  <a:srgbClr val="2463A5"/>
                </a:solidFill>
                <a:latin typeface="Arial"/>
              </a:defRPr>
            </a:pPr>
            <a:r>
              <a:t>C</a:t>
            </a:r>
          </a:p>
        </p:txBody>
      </p:sp>
      <p:sp>
        <p:nvSpPr>
          <p:cNvPr id="26" name="TextBox 25"/>
          <p:cNvSpPr txBox="1"/>
          <p:nvPr/>
        </p:nvSpPr>
        <p:spPr>
          <a:xfrm>
            <a:off x="3297936" y="2873502"/>
            <a:ext cx="8284464" cy="185166"/>
          </a:xfrm>
          <a:prstGeom prst="rect">
            <a:avLst/>
          </a:prstGeom>
          <a:noFill/>
        </p:spPr>
        <p:txBody>
          <a:bodyPr wrap="none" lIns="0" rIns="0" tIns="0" bIns="0">
            <a:spAutoFit/>
          </a:bodyPr>
          <a:lstStyle/>
          <a:p>
            <a:pPr>
              <a:spcBef>
                <a:spcPts val="0"/>
              </a:spcBef>
              <a:spcAft>
                <a:spcPts val="0"/>
              </a:spcAft>
              <a:defRPr sz="971" b="1">
                <a:solidFill>
                  <a:srgbClr val="2463A5"/>
                </a:solidFill>
                <a:latin typeface="Arial"/>
              </a:defRPr>
            </a:pPr>
            <a:r>
              <a:t>D</a:t>
            </a:r>
          </a:p>
        </p:txBody>
      </p:sp>
      <p:sp>
        <p:nvSpPr>
          <p:cNvPr id="27" name="Rounded Rectangle 26"/>
          <p:cNvSpPr/>
          <p:nvPr/>
        </p:nvSpPr>
        <p:spPr>
          <a:xfrm>
            <a:off x="4381500" y="1632204"/>
            <a:ext cx="2948940" cy="1611630"/>
          </a:xfrm>
          <a:prstGeom prst="roundRect">
            <a:avLst>
              <a:gd name="adj" fmla="val 6808"/>
            </a:avLst>
          </a:prstGeom>
          <a:solidFill>
            <a:srgbClr val="FFFFFF"/>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77512" y="1735074"/>
            <a:ext cx="205740" cy="205740"/>
          </a:xfrm>
          <a:prstGeom prst="ellipse">
            <a:avLst/>
          </a:prstGeom>
          <a:solidFill>
            <a:srgbClr val="087F82"/>
          </a:solidFill>
          <a:ln w="1028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5518" y="1748790"/>
            <a:ext cx="7056882" cy="195453"/>
          </a:xfrm>
          <a:prstGeom prst="rect">
            <a:avLst/>
          </a:prstGeom>
          <a:noFill/>
        </p:spPr>
        <p:txBody>
          <a:bodyPr wrap="none" lIns="0" rIns="0" tIns="0" bIns="0">
            <a:spAutoFit/>
          </a:bodyPr>
          <a:lstStyle/>
          <a:p>
            <a:pPr>
              <a:spcBef>
                <a:spcPts val="0"/>
              </a:spcBef>
              <a:spcAft>
                <a:spcPts val="0"/>
              </a:spcAft>
              <a:defRPr sz="1026" b="1">
                <a:solidFill>
                  <a:srgbClr val="FFFFFF"/>
                </a:solidFill>
                <a:latin typeface="Arial"/>
              </a:defRPr>
            </a:pPr>
            <a:r>
              <a:t>2</a:t>
            </a:r>
          </a:p>
        </p:txBody>
      </p:sp>
      <p:sp>
        <p:nvSpPr>
          <p:cNvPr id="30" name="TextBox 29"/>
          <p:cNvSpPr txBox="1"/>
          <p:nvPr/>
        </p:nvSpPr>
        <p:spPr>
          <a:xfrm>
            <a:off x="4751832" y="1721358"/>
            <a:ext cx="6830568" cy="257175"/>
          </a:xfrm>
          <a:prstGeom prst="rect">
            <a:avLst/>
          </a:prstGeom>
          <a:noFill/>
        </p:spPr>
        <p:txBody>
          <a:bodyPr wrap="none" lIns="0" rIns="0" tIns="0" bIns="0">
            <a:spAutoFit/>
          </a:bodyPr>
          <a:lstStyle/>
          <a:p>
            <a:pPr>
              <a:spcBef>
                <a:spcPts val="0"/>
              </a:spcBef>
              <a:spcAft>
                <a:spcPts val="0"/>
              </a:spcAft>
              <a:defRPr sz="1350" b="1">
                <a:solidFill>
                  <a:srgbClr val="182C40"/>
                </a:solidFill>
                <a:latin typeface="Arial"/>
              </a:defRPr>
            </a:pPr>
            <a:r>
              <a:t>Execute the workflow</a:t>
            </a:r>
          </a:p>
        </p:txBody>
      </p:sp>
      <p:sp>
        <p:nvSpPr>
          <p:cNvPr id="31" name="TextBox 30"/>
          <p:cNvSpPr txBox="1"/>
          <p:nvPr/>
        </p:nvSpPr>
        <p:spPr>
          <a:xfrm>
            <a:off x="4546092" y="2064258"/>
            <a:ext cx="7036307" cy="267462"/>
          </a:xfrm>
          <a:prstGeom prst="rect">
            <a:avLst/>
          </a:prstGeom>
          <a:noFill/>
        </p:spPr>
        <p:txBody>
          <a:bodyPr wrap="none" lIns="0" rIns="0" tIns="0" bIns="0">
            <a:spAutoFit/>
          </a:bodyPr>
          <a:lstStyle/>
          <a:p>
            <a:pPr>
              <a:spcBef>
                <a:spcPts val="0"/>
              </a:spcBef>
              <a:spcAft>
                <a:spcPts val="0"/>
              </a:spcAft>
              <a:defRPr sz="1404" b="1">
                <a:solidFill>
                  <a:srgbClr val="087F82"/>
                </a:solidFill>
                <a:latin typeface="Arial"/>
              </a:defRPr>
            </a:pPr>
            <a:r>
              <a:t>Sandboxed workflow runner</a:t>
            </a:r>
          </a:p>
        </p:txBody>
      </p:sp>
      <p:sp>
        <p:nvSpPr>
          <p:cNvPr id="32" name="TextBox 31"/>
          <p:cNvSpPr txBox="1"/>
          <p:nvPr/>
        </p:nvSpPr>
        <p:spPr>
          <a:xfrm>
            <a:off x="4546092" y="2366010"/>
            <a:ext cx="7036307" cy="216027"/>
          </a:xfrm>
          <a:prstGeom prst="rect">
            <a:avLst/>
          </a:prstGeom>
          <a:noFill/>
        </p:spPr>
        <p:txBody>
          <a:bodyPr wrap="none" lIns="0" rIns="0" tIns="0" bIns="0">
            <a:spAutoFit/>
          </a:bodyPr>
          <a:lstStyle/>
          <a:p>
            <a:pPr>
              <a:spcBef>
                <a:spcPts val="0"/>
              </a:spcBef>
              <a:spcAft>
                <a:spcPts val="0"/>
              </a:spcAft>
              <a:defRPr sz="1134" b="0">
                <a:solidFill>
                  <a:srgbClr val="526779"/>
                </a:solidFill>
                <a:latin typeface="Arial"/>
              </a:defRPr>
            </a:pPr>
            <a:r>
              <a:t>Reset workspace to the initial inputs</a:t>
            </a:r>
          </a:p>
        </p:txBody>
      </p:sp>
      <p:sp>
        <p:nvSpPr>
          <p:cNvPr id="33" name="TextBox 32"/>
          <p:cNvSpPr txBox="1"/>
          <p:nvPr/>
        </p:nvSpPr>
        <p:spPr>
          <a:xfrm>
            <a:off x="4546092" y="2599182"/>
            <a:ext cx="7036307" cy="216027"/>
          </a:xfrm>
          <a:prstGeom prst="rect">
            <a:avLst/>
          </a:prstGeom>
          <a:noFill/>
        </p:spPr>
        <p:txBody>
          <a:bodyPr wrap="none" lIns="0" rIns="0" tIns="0" bIns="0">
            <a:spAutoFit/>
          </a:bodyPr>
          <a:lstStyle/>
          <a:p>
            <a:pPr>
              <a:spcBef>
                <a:spcPts val="0"/>
              </a:spcBef>
              <a:spcAft>
                <a:spcPts val="0"/>
              </a:spcAft>
              <a:defRPr sz="1134" b="0">
                <a:solidFill>
                  <a:srgbClr val="526779"/>
                </a:solidFill>
                <a:latin typeface="Arial"/>
              </a:defRPr>
            </a:pPr>
            <a:r>
              <a:t>Run agents and scientific tools</a:t>
            </a:r>
          </a:p>
        </p:txBody>
      </p:sp>
      <p:sp>
        <p:nvSpPr>
          <p:cNvPr id="34" name="TextBox 33"/>
          <p:cNvSpPr txBox="1"/>
          <p:nvPr/>
        </p:nvSpPr>
        <p:spPr>
          <a:xfrm>
            <a:off x="4546092" y="2832353"/>
            <a:ext cx="7036307" cy="216027"/>
          </a:xfrm>
          <a:prstGeom prst="rect">
            <a:avLst/>
          </a:prstGeom>
          <a:noFill/>
        </p:spPr>
        <p:txBody>
          <a:bodyPr wrap="none" lIns="0" rIns="0" tIns="0" bIns="0">
            <a:spAutoFit/>
          </a:bodyPr>
          <a:lstStyle/>
          <a:p>
            <a:pPr>
              <a:spcBef>
                <a:spcPts val="0"/>
              </a:spcBef>
              <a:spcAft>
                <a:spcPts val="0"/>
              </a:spcAft>
              <a:defRPr sz="1134" b="0">
                <a:solidFill>
                  <a:srgbClr val="526779"/>
                </a:solidFill>
                <a:latin typeface="Arial"/>
              </a:defRPr>
            </a:pPr>
            <a:r>
              <a:t>Save scripts, logs, tables and figures</a:t>
            </a:r>
          </a:p>
        </p:txBody>
      </p:sp>
      <p:cxnSp>
        <p:nvCxnSpPr>
          <p:cNvPr id="35" name="Connector 34"/>
          <p:cNvCxnSpPr/>
          <p:nvPr/>
        </p:nvCxnSpPr>
        <p:spPr>
          <a:xfrm>
            <a:off x="3887724" y="2434590"/>
            <a:ext cx="493776" cy="0"/>
          </a:xfrm>
          <a:prstGeom prst="line">
            <a:avLst/>
          </a:prstGeom>
          <a:ln w="20574">
            <a:solidFill>
              <a:srgbClr val="2463A5"/>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330440" y="2434590"/>
            <a:ext cx="246888" cy="0"/>
          </a:xfrm>
          <a:prstGeom prst="line">
            <a:avLst/>
          </a:prstGeom>
          <a:ln w="20574">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577328" y="1769364"/>
            <a:ext cx="0" cy="665226"/>
          </a:xfrm>
          <a:prstGeom prst="line">
            <a:avLst/>
          </a:prstGeom>
          <a:ln w="20574">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577328" y="1769364"/>
            <a:ext cx="411480" cy="0"/>
          </a:xfrm>
          <a:prstGeom prst="line">
            <a:avLst/>
          </a:prstGeom>
          <a:ln w="20574">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824216" y="939546"/>
            <a:ext cx="3429000" cy="4107942"/>
          </a:xfrm>
          <a:prstGeom prst="roundRect">
            <a:avLst>
              <a:gd name="adj" fmla="val 3200"/>
            </a:avLst>
          </a:prstGeom>
          <a:solidFill>
            <a:srgbClr val="FFFFFF"/>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920228" y="1042416"/>
            <a:ext cx="205740" cy="205740"/>
          </a:xfrm>
          <a:prstGeom prst="ellipse">
            <a:avLst/>
          </a:prstGeom>
          <a:solidFill>
            <a:srgbClr val="AF6425"/>
          </a:solidFill>
          <a:ln w="1028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68234" y="1056132"/>
            <a:ext cx="3614166" cy="195453"/>
          </a:xfrm>
          <a:prstGeom prst="rect">
            <a:avLst/>
          </a:prstGeom>
          <a:noFill/>
        </p:spPr>
        <p:txBody>
          <a:bodyPr wrap="none" lIns="0" rIns="0" tIns="0" bIns="0">
            <a:spAutoFit/>
          </a:bodyPr>
          <a:lstStyle/>
          <a:p>
            <a:pPr>
              <a:spcBef>
                <a:spcPts val="0"/>
              </a:spcBef>
              <a:spcAft>
                <a:spcPts val="0"/>
              </a:spcAft>
              <a:defRPr sz="1026" b="1">
                <a:solidFill>
                  <a:srgbClr val="FFFFFF"/>
                </a:solidFill>
                <a:latin typeface="Arial"/>
              </a:defRPr>
            </a:pPr>
            <a:r>
              <a:t>3</a:t>
            </a:r>
          </a:p>
        </p:txBody>
      </p:sp>
      <p:sp>
        <p:nvSpPr>
          <p:cNvPr id="42" name="TextBox 41"/>
          <p:cNvSpPr txBox="1"/>
          <p:nvPr/>
        </p:nvSpPr>
        <p:spPr>
          <a:xfrm>
            <a:off x="8194548" y="1028700"/>
            <a:ext cx="3387852" cy="257175"/>
          </a:xfrm>
          <a:prstGeom prst="rect">
            <a:avLst/>
          </a:prstGeom>
          <a:noFill/>
        </p:spPr>
        <p:txBody>
          <a:bodyPr wrap="none" lIns="0" rIns="0" tIns="0" bIns="0">
            <a:spAutoFit/>
          </a:bodyPr>
          <a:lstStyle/>
          <a:p>
            <a:pPr>
              <a:spcBef>
                <a:spcPts val="0"/>
              </a:spcBef>
              <a:spcAft>
                <a:spcPts val="0"/>
              </a:spcAft>
              <a:defRPr sz="1350" b="1">
                <a:solidFill>
                  <a:srgbClr val="182C40"/>
                </a:solidFill>
                <a:latin typeface="Arial"/>
              </a:defRPr>
            </a:pPr>
            <a:r>
              <a:t>Policy-BT verifier</a:t>
            </a:r>
          </a:p>
        </p:txBody>
      </p:sp>
      <p:sp>
        <p:nvSpPr>
          <p:cNvPr id="43" name="Rounded Rectangle 42"/>
          <p:cNvSpPr/>
          <p:nvPr/>
        </p:nvSpPr>
        <p:spPr>
          <a:xfrm>
            <a:off x="7988808" y="1385316"/>
            <a:ext cx="3099816" cy="768096"/>
          </a:xfrm>
          <a:prstGeom prst="roundRect">
            <a:avLst>
              <a:gd name="adj" fmla="val 10714"/>
            </a:avLst>
          </a:prstGeom>
          <a:solidFill>
            <a:srgbClr val="EDF8F6"/>
          </a:solidFill>
          <a:ln w="1028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25968" y="1481328"/>
            <a:ext cx="3456432" cy="257175"/>
          </a:xfrm>
          <a:prstGeom prst="rect">
            <a:avLst/>
          </a:prstGeom>
          <a:noFill/>
        </p:spPr>
        <p:txBody>
          <a:bodyPr wrap="none" lIns="0" rIns="0" tIns="0" bIns="0">
            <a:spAutoFit/>
          </a:bodyPr>
          <a:lstStyle/>
          <a:p>
            <a:pPr>
              <a:spcBef>
                <a:spcPts val="0"/>
              </a:spcBef>
              <a:spcAft>
                <a:spcPts val="0"/>
              </a:spcAft>
              <a:defRPr sz="1350" b="1">
                <a:solidFill>
                  <a:srgbClr val="087F82"/>
                </a:solidFill>
                <a:latin typeface="Arial"/>
              </a:defRPr>
            </a:pPr>
            <a:r>
              <a:t>Preserve + reproduce</a:t>
            </a:r>
          </a:p>
        </p:txBody>
      </p:sp>
      <p:sp>
        <p:nvSpPr>
          <p:cNvPr id="45" name="TextBox 44"/>
          <p:cNvSpPr txBox="1"/>
          <p:nvPr/>
        </p:nvSpPr>
        <p:spPr>
          <a:xfrm>
            <a:off x="8125968" y="1748790"/>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Owned snapshots; required .sh contract</a:t>
            </a:r>
          </a:p>
        </p:txBody>
      </p:sp>
      <p:sp>
        <p:nvSpPr>
          <p:cNvPr id="46" name="TextBox 45"/>
          <p:cNvSpPr txBox="1"/>
          <p:nvPr/>
        </p:nvSpPr>
        <p:spPr>
          <a:xfrm>
            <a:off x="8125968" y="1961388"/>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Fresh-venv rerun enabled by default</a:t>
            </a:r>
          </a:p>
        </p:txBody>
      </p:sp>
      <p:cxnSp>
        <p:nvCxnSpPr>
          <p:cNvPr id="47" name="Connector 46"/>
          <p:cNvCxnSpPr/>
          <p:nvPr/>
        </p:nvCxnSpPr>
        <p:spPr>
          <a:xfrm>
            <a:off x="9538716" y="2167128"/>
            <a:ext cx="0" cy="150875"/>
          </a:xfrm>
          <a:prstGeom prst="line">
            <a:avLst/>
          </a:prstGeom>
          <a:ln w="17145">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988808" y="2338578"/>
            <a:ext cx="3099816" cy="987551"/>
          </a:xfrm>
          <a:prstGeom prst="roundRect">
            <a:avLst>
              <a:gd name="adj" fmla="val 8333"/>
            </a:avLst>
          </a:prstGeom>
          <a:solidFill>
            <a:srgbClr val="EFF5FC"/>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25968" y="2434590"/>
            <a:ext cx="3456432" cy="257175"/>
          </a:xfrm>
          <a:prstGeom prst="rect">
            <a:avLst/>
          </a:prstGeom>
          <a:noFill/>
        </p:spPr>
        <p:txBody>
          <a:bodyPr wrap="none" lIns="0" rIns="0" tIns="0" bIns="0">
            <a:spAutoFit/>
          </a:bodyPr>
          <a:lstStyle/>
          <a:p>
            <a:pPr>
              <a:spcBef>
                <a:spcPts val="0"/>
              </a:spcBef>
              <a:spcAft>
                <a:spcPts val="0"/>
              </a:spcAft>
              <a:defRPr sz="1350" b="1">
                <a:solidFill>
                  <a:srgbClr val="2463A5"/>
                </a:solidFill>
                <a:latin typeface="Arial"/>
              </a:defRPr>
            </a:pPr>
            <a:r>
              <a:t>Code-first pairwise comparison</a:t>
            </a:r>
          </a:p>
        </p:txBody>
      </p:sp>
      <p:sp>
        <p:nvSpPr>
          <p:cNvPr id="50" name="TextBox 49"/>
          <p:cNvSpPr txBox="1"/>
          <p:nvPr/>
        </p:nvSpPr>
        <p:spPr>
          <a:xfrm>
            <a:off x="8125968" y="2702052"/>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Goal → fixed criteria + schema adapters</a:t>
            </a:r>
          </a:p>
        </p:txBody>
      </p:sp>
      <p:sp>
        <p:nvSpPr>
          <p:cNvPr id="51" name="TextBox 50"/>
          <p:cNvSpPr txBox="1"/>
          <p:nvPr/>
        </p:nvSpPr>
        <p:spPr>
          <a:xfrm>
            <a:off x="8125968" y="2914650"/>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One cached deterministic Python policy</a:t>
            </a:r>
          </a:p>
        </p:txBody>
      </p:sp>
      <p:sp>
        <p:nvSpPr>
          <p:cNvPr id="52" name="TextBox 51"/>
          <p:cNvSpPr txBox="1"/>
          <p:nvPr/>
        </p:nvSpPr>
        <p:spPr>
          <a:xfrm>
            <a:off x="8125968" y="3127248"/>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Relevant images may resolve code ties</a:t>
            </a:r>
          </a:p>
        </p:txBody>
      </p:sp>
      <p:cxnSp>
        <p:nvCxnSpPr>
          <p:cNvPr id="53" name="Connector 52"/>
          <p:cNvCxnSpPr/>
          <p:nvPr/>
        </p:nvCxnSpPr>
        <p:spPr>
          <a:xfrm>
            <a:off x="9538716" y="3339846"/>
            <a:ext cx="0" cy="157734"/>
          </a:xfrm>
          <a:prstGeom prst="line">
            <a:avLst/>
          </a:prstGeom>
          <a:ln w="17145">
            <a:solidFill>
              <a:srgbClr val="2463A5"/>
            </a:solidFill>
            <a:tailEnd type="triangle"/>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7988808" y="3518153"/>
            <a:ext cx="3099816" cy="761238"/>
          </a:xfrm>
          <a:prstGeom prst="roundRect">
            <a:avLst>
              <a:gd name="adj" fmla="val 10810"/>
            </a:avLst>
          </a:prstGeom>
          <a:solidFill>
            <a:srgbClr val="FFF5E9"/>
          </a:solidFill>
          <a:ln w="1028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25968" y="3614166"/>
            <a:ext cx="3456432" cy="257175"/>
          </a:xfrm>
          <a:prstGeom prst="rect">
            <a:avLst/>
          </a:prstGeom>
          <a:noFill/>
        </p:spPr>
        <p:txBody>
          <a:bodyPr wrap="none" lIns="0" rIns="0" tIns="0" bIns="0">
            <a:spAutoFit/>
          </a:bodyPr>
          <a:lstStyle/>
          <a:p>
            <a:pPr>
              <a:spcBef>
                <a:spcPts val="0"/>
              </a:spcBef>
              <a:spcAft>
                <a:spcPts val="0"/>
              </a:spcAft>
              <a:defRPr sz="1350" b="1">
                <a:solidFill>
                  <a:srgbClr val="AF6425"/>
                </a:solidFill>
                <a:latin typeface="Arial"/>
              </a:defRPr>
            </a:pPr>
            <a:r>
              <a:t>Bradley–Terry tournament</a:t>
            </a:r>
          </a:p>
        </p:txBody>
      </p:sp>
      <p:sp>
        <p:nvSpPr>
          <p:cNvPr id="56" name="TextBox 55"/>
          <p:cNvSpPr txBox="1"/>
          <p:nvPr/>
        </p:nvSpPr>
        <p:spPr>
          <a:xfrm>
            <a:off x="8125968" y="3881628"/>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All generation pairs in the task session</a:t>
            </a:r>
          </a:p>
        </p:txBody>
      </p:sp>
      <p:sp>
        <p:nvSpPr>
          <p:cNvPr id="57" name="TextBox 56"/>
          <p:cNvSpPr txBox="1"/>
          <p:nvPr/>
        </p:nvSpPr>
        <p:spPr>
          <a:xfrm>
            <a:off x="8125968" y="4053078"/>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Refit every generation’s current reward</a:t>
            </a:r>
          </a:p>
        </p:txBody>
      </p:sp>
      <p:sp>
        <p:nvSpPr>
          <p:cNvPr id="58" name="Rounded Rectangle 57"/>
          <p:cNvSpPr/>
          <p:nvPr/>
        </p:nvSpPr>
        <p:spPr>
          <a:xfrm>
            <a:off x="7988808" y="4450842"/>
            <a:ext cx="3099816" cy="233172"/>
          </a:xfrm>
          <a:prstGeom prst="roundRect">
            <a:avLst>
              <a:gd name="adj" fmla="val 17647"/>
            </a:avLst>
          </a:prstGeom>
          <a:solidFill>
            <a:srgbClr val="FFF5E9"/>
          </a:solidFill>
          <a:ln w="1028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64246" y="4478274"/>
            <a:ext cx="3518153" cy="185166"/>
          </a:xfrm>
          <a:prstGeom prst="rect">
            <a:avLst/>
          </a:prstGeom>
          <a:noFill/>
        </p:spPr>
        <p:txBody>
          <a:bodyPr wrap="none" lIns="0" rIns="0" tIns="0" bIns="0">
            <a:spAutoFit/>
          </a:bodyPr>
          <a:lstStyle/>
          <a:p>
            <a:pPr>
              <a:spcBef>
                <a:spcPts val="0"/>
              </a:spcBef>
              <a:spcAft>
                <a:spcPts val="0"/>
              </a:spcAft>
              <a:defRPr sz="971" b="1">
                <a:solidFill>
                  <a:srgbClr val="AF6425"/>
                </a:solidFill>
                <a:latin typeface="Arial"/>
              </a:defRPr>
            </a:pPr>
            <a:r>
              <a:t>Numeric rewards + evidence-grounded diagnoses</a:t>
            </a:r>
          </a:p>
        </p:txBody>
      </p:sp>
      <p:sp>
        <p:nvSpPr>
          <p:cNvPr id="60" name="TextBox 59"/>
          <p:cNvSpPr txBox="1"/>
          <p:nvPr/>
        </p:nvSpPr>
        <p:spPr>
          <a:xfrm>
            <a:off x="7988808" y="4780026"/>
            <a:ext cx="3593592" cy="195453"/>
          </a:xfrm>
          <a:prstGeom prst="rect">
            <a:avLst/>
          </a:prstGeom>
          <a:noFill/>
        </p:spPr>
        <p:txBody>
          <a:bodyPr wrap="none" lIns="0" rIns="0" tIns="0" bIns="0">
            <a:spAutoFit/>
          </a:bodyPr>
          <a:lstStyle/>
          <a:p>
            <a:pPr>
              <a:spcBef>
                <a:spcPts val="0"/>
              </a:spcBef>
              <a:spcAft>
                <a:spcPts val="0"/>
              </a:spcAft>
              <a:defRPr sz="1026" b="0">
                <a:solidFill>
                  <a:srgbClr val="A84943"/>
                </a:solidFill>
                <a:latin typeface="Arial"/>
              </a:defRPr>
            </a:pPr>
            <a:r>
              <a:t>Reproduction failure → published reward 0</a:t>
            </a:r>
          </a:p>
        </p:txBody>
      </p:sp>
      <p:sp>
        <p:nvSpPr>
          <p:cNvPr id="61" name="Rounded Rectangle 60"/>
          <p:cNvSpPr/>
          <p:nvPr/>
        </p:nvSpPr>
        <p:spPr>
          <a:xfrm>
            <a:off x="4381500" y="3936492"/>
            <a:ext cx="2948940" cy="1110996"/>
          </a:xfrm>
          <a:prstGeom prst="roundRect">
            <a:avLst>
              <a:gd name="adj" fmla="val 9876"/>
            </a:avLst>
          </a:prstGeom>
          <a:solidFill>
            <a:srgbClr val="FFFFFF"/>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477512" y="4039362"/>
            <a:ext cx="205740" cy="205740"/>
          </a:xfrm>
          <a:prstGeom prst="ellipse">
            <a:avLst/>
          </a:prstGeom>
          <a:solidFill>
            <a:srgbClr val="AF6425"/>
          </a:solidFill>
          <a:ln w="1028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25518" y="4053078"/>
            <a:ext cx="7056882" cy="195453"/>
          </a:xfrm>
          <a:prstGeom prst="rect">
            <a:avLst/>
          </a:prstGeom>
          <a:noFill/>
        </p:spPr>
        <p:txBody>
          <a:bodyPr wrap="none" lIns="0" rIns="0" tIns="0" bIns="0">
            <a:spAutoFit/>
          </a:bodyPr>
          <a:lstStyle/>
          <a:p>
            <a:pPr>
              <a:spcBef>
                <a:spcPts val="0"/>
              </a:spcBef>
              <a:spcAft>
                <a:spcPts val="0"/>
              </a:spcAft>
              <a:defRPr sz="1026" b="1">
                <a:solidFill>
                  <a:srgbClr val="FFFFFF"/>
                </a:solidFill>
                <a:latin typeface="Arial"/>
              </a:defRPr>
            </a:pPr>
            <a:r>
              <a:t>4</a:t>
            </a:r>
          </a:p>
        </p:txBody>
      </p:sp>
      <p:sp>
        <p:nvSpPr>
          <p:cNvPr id="64" name="TextBox 63"/>
          <p:cNvSpPr txBox="1"/>
          <p:nvPr/>
        </p:nvSpPr>
        <p:spPr>
          <a:xfrm>
            <a:off x="4751832" y="4025646"/>
            <a:ext cx="6830568" cy="257175"/>
          </a:xfrm>
          <a:prstGeom prst="rect">
            <a:avLst/>
          </a:prstGeom>
          <a:noFill/>
        </p:spPr>
        <p:txBody>
          <a:bodyPr wrap="none" lIns="0" rIns="0" tIns="0" bIns="0">
            <a:spAutoFit/>
          </a:bodyPr>
          <a:lstStyle/>
          <a:p>
            <a:pPr>
              <a:spcBef>
                <a:spcPts val="0"/>
              </a:spcBef>
              <a:spcAft>
                <a:spcPts val="0"/>
              </a:spcAft>
              <a:defRPr sz="1350" b="1">
                <a:solidFill>
                  <a:srgbClr val="182C40"/>
                </a:solidFill>
                <a:latin typeface="Arial"/>
              </a:defRPr>
            </a:pPr>
            <a:r>
              <a:t>QD archive + parent selection</a:t>
            </a:r>
          </a:p>
        </p:txBody>
      </p:sp>
      <p:sp>
        <p:nvSpPr>
          <p:cNvPr id="65" name="TextBox 64"/>
          <p:cNvSpPr txBox="1"/>
          <p:nvPr/>
        </p:nvSpPr>
        <p:spPr>
          <a:xfrm>
            <a:off x="4546092" y="4320540"/>
            <a:ext cx="7036307"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Refresh quality from current BT ratings</a:t>
            </a:r>
          </a:p>
        </p:txBody>
      </p:sp>
      <p:sp>
        <p:nvSpPr>
          <p:cNvPr id="66" name="TextBox 65"/>
          <p:cNvSpPr txBox="1"/>
          <p:nvPr/>
        </p:nvSpPr>
        <p:spPr>
          <a:xfrm>
            <a:off x="4546092" y="4512564"/>
            <a:ext cx="7036307"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Quality + code novelty − length penalty</a:t>
            </a:r>
          </a:p>
        </p:txBody>
      </p:sp>
      <p:sp>
        <p:nvSpPr>
          <p:cNvPr id="67" name="TextBox 66"/>
          <p:cNvSpPr txBox="1"/>
          <p:nvPr/>
        </p:nvSpPr>
        <p:spPr>
          <a:xfrm>
            <a:off x="4546092" y="4704588"/>
            <a:ext cx="7036307"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Retain survivors; select parent workflow(s)</a:t>
            </a:r>
          </a:p>
        </p:txBody>
      </p:sp>
      <p:sp>
        <p:nvSpPr>
          <p:cNvPr id="68" name="Rounded Rectangle 67"/>
          <p:cNvSpPr/>
          <p:nvPr/>
        </p:nvSpPr>
        <p:spPr>
          <a:xfrm>
            <a:off x="938784" y="3936492"/>
            <a:ext cx="2948940" cy="1110996"/>
          </a:xfrm>
          <a:prstGeom prst="roundRect">
            <a:avLst>
              <a:gd name="adj" fmla="val 9876"/>
            </a:avLst>
          </a:prstGeom>
          <a:solidFill>
            <a:srgbClr val="FFFFFF"/>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034796" y="4039362"/>
            <a:ext cx="205740" cy="205740"/>
          </a:xfrm>
          <a:prstGeom prst="ellipse">
            <a:avLst/>
          </a:prstGeom>
          <a:solidFill>
            <a:srgbClr val="7752A6"/>
          </a:solidFill>
          <a:ln w="10287">
            <a:solidFill>
              <a:srgbClr val="775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82802" y="4053078"/>
            <a:ext cx="10499598" cy="195453"/>
          </a:xfrm>
          <a:prstGeom prst="rect">
            <a:avLst/>
          </a:prstGeom>
          <a:noFill/>
        </p:spPr>
        <p:txBody>
          <a:bodyPr wrap="none" lIns="0" rIns="0" tIns="0" bIns="0">
            <a:spAutoFit/>
          </a:bodyPr>
          <a:lstStyle/>
          <a:p>
            <a:pPr>
              <a:spcBef>
                <a:spcPts val="0"/>
              </a:spcBef>
              <a:spcAft>
                <a:spcPts val="0"/>
              </a:spcAft>
              <a:defRPr sz="1026" b="1">
                <a:solidFill>
                  <a:srgbClr val="FFFFFF"/>
                </a:solidFill>
                <a:latin typeface="Arial"/>
              </a:defRPr>
            </a:pPr>
            <a:r>
              <a:t>5</a:t>
            </a:r>
          </a:p>
        </p:txBody>
      </p:sp>
      <p:sp>
        <p:nvSpPr>
          <p:cNvPr id="71" name="TextBox 70"/>
          <p:cNvSpPr txBox="1"/>
          <p:nvPr/>
        </p:nvSpPr>
        <p:spPr>
          <a:xfrm>
            <a:off x="1309116" y="4025646"/>
            <a:ext cx="10273284" cy="257175"/>
          </a:xfrm>
          <a:prstGeom prst="rect">
            <a:avLst/>
          </a:prstGeom>
          <a:noFill/>
        </p:spPr>
        <p:txBody>
          <a:bodyPr wrap="none" lIns="0" rIns="0" tIns="0" bIns="0">
            <a:spAutoFit/>
          </a:bodyPr>
          <a:lstStyle/>
          <a:p>
            <a:pPr>
              <a:spcBef>
                <a:spcPts val="0"/>
              </a:spcBef>
              <a:spcAft>
                <a:spcPts val="0"/>
              </a:spcAft>
              <a:defRPr sz="1350" b="1">
                <a:solidFill>
                  <a:srgbClr val="182C40"/>
                </a:solidFill>
                <a:latin typeface="Arial"/>
              </a:defRPr>
            </a:pPr>
            <a:r>
              <a:t>Mutation or crossover</a:t>
            </a:r>
          </a:p>
        </p:txBody>
      </p:sp>
      <p:sp>
        <p:nvSpPr>
          <p:cNvPr id="72" name="TextBox 71"/>
          <p:cNvSpPr txBox="1"/>
          <p:nvPr/>
        </p:nvSpPr>
        <p:spPr>
          <a:xfrm>
            <a:off x="1103376" y="4320540"/>
            <a:ext cx="10479024"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Mutation: parent diagnosis → LLM directive</a:t>
            </a:r>
          </a:p>
        </p:txBody>
      </p:sp>
      <p:sp>
        <p:nvSpPr>
          <p:cNvPr id="73" name="TextBox 72"/>
          <p:cNvSpPr txBox="1"/>
          <p:nvPr/>
        </p:nvSpPr>
        <p:spPr>
          <a:xfrm>
            <a:off x="1103376" y="4512564"/>
            <a:ext cx="10479024"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Crossover: recombine selected parent code</a:t>
            </a:r>
          </a:p>
        </p:txBody>
      </p:sp>
      <p:sp>
        <p:nvSpPr>
          <p:cNvPr id="74" name="TextBox 73"/>
          <p:cNvSpPr txBox="1"/>
          <p:nvPr/>
        </p:nvSpPr>
        <p:spPr>
          <a:xfrm>
            <a:off x="1103376" y="4704588"/>
            <a:ext cx="10479024"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Use the selected parents’ own feedback</a:t>
            </a:r>
          </a:p>
        </p:txBody>
      </p:sp>
      <p:cxnSp>
        <p:nvCxnSpPr>
          <p:cNvPr id="75" name="Connector 74"/>
          <p:cNvCxnSpPr/>
          <p:nvPr/>
        </p:nvCxnSpPr>
        <p:spPr>
          <a:xfrm flipH="1">
            <a:off x="7330440" y="4560570"/>
            <a:ext cx="493776" cy="0"/>
          </a:xfrm>
          <a:prstGeom prst="line">
            <a:avLst/>
          </a:prstGeom>
          <a:ln w="20574">
            <a:solidFill>
              <a:srgbClr val="AF6425"/>
            </a:solidFill>
            <a:tailEnd type="triangle"/>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357872" y="4286250"/>
            <a:ext cx="4224528" cy="174879"/>
          </a:xfrm>
          <a:prstGeom prst="rect">
            <a:avLst/>
          </a:prstGeom>
          <a:noFill/>
        </p:spPr>
        <p:txBody>
          <a:bodyPr wrap="none" lIns="0" rIns="0" tIns="0" bIns="0">
            <a:spAutoFit/>
          </a:bodyPr>
          <a:lstStyle/>
          <a:p>
            <a:pPr>
              <a:spcBef>
                <a:spcPts val="0"/>
              </a:spcBef>
              <a:spcAft>
                <a:spcPts val="0"/>
              </a:spcAft>
              <a:defRPr sz="918" b="1">
                <a:solidFill>
                  <a:srgbClr val="AF6425"/>
                </a:solidFill>
                <a:latin typeface="Arial"/>
              </a:defRPr>
            </a:pPr>
            <a:r>
              <a:t>ratings</a:t>
            </a:r>
          </a:p>
        </p:txBody>
      </p:sp>
      <p:cxnSp>
        <p:nvCxnSpPr>
          <p:cNvPr id="77" name="Connector 76"/>
          <p:cNvCxnSpPr/>
          <p:nvPr/>
        </p:nvCxnSpPr>
        <p:spPr>
          <a:xfrm flipH="1">
            <a:off x="3887724" y="4560570"/>
            <a:ext cx="493776" cy="0"/>
          </a:xfrm>
          <a:prstGeom prst="line">
            <a:avLst/>
          </a:prstGeom>
          <a:ln w="20574">
            <a:solidFill>
              <a:srgbClr val="AF6425"/>
            </a:solidFill>
            <a:tailEnd type="triangle"/>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3922014" y="4286250"/>
            <a:ext cx="7660386" cy="174879"/>
          </a:xfrm>
          <a:prstGeom prst="rect">
            <a:avLst/>
          </a:prstGeom>
          <a:noFill/>
        </p:spPr>
        <p:txBody>
          <a:bodyPr wrap="none" lIns="0" rIns="0" tIns="0" bIns="0">
            <a:spAutoFit/>
          </a:bodyPr>
          <a:lstStyle/>
          <a:p>
            <a:pPr>
              <a:spcBef>
                <a:spcPts val="0"/>
              </a:spcBef>
              <a:spcAft>
                <a:spcPts val="0"/>
              </a:spcAft>
              <a:defRPr sz="918" b="1">
                <a:solidFill>
                  <a:srgbClr val="AF6425"/>
                </a:solidFill>
                <a:latin typeface="Arial"/>
              </a:defRPr>
            </a:pPr>
            <a:r>
              <a:t>parents</a:t>
            </a:r>
          </a:p>
        </p:txBody>
      </p:sp>
      <p:cxnSp>
        <p:nvCxnSpPr>
          <p:cNvPr id="79" name="Connector 78"/>
          <p:cNvCxnSpPr/>
          <p:nvPr/>
        </p:nvCxnSpPr>
        <p:spPr>
          <a:xfrm flipV="1">
            <a:off x="2413254" y="3243834"/>
            <a:ext cx="0" cy="692658"/>
          </a:xfrm>
          <a:prstGeom prst="line">
            <a:avLst/>
          </a:prstGeom>
          <a:ln w="20574">
            <a:solidFill>
              <a:srgbClr val="7752A6"/>
            </a:solidFill>
            <a:tailEnd type="triangle"/>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950" y="3422142"/>
            <a:ext cx="10458450" cy="205740"/>
          </a:xfrm>
          <a:prstGeom prst="rect">
            <a:avLst/>
          </a:prstGeom>
          <a:noFill/>
        </p:spPr>
        <p:txBody>
          <a:bodyPr wrap="none" lIns="0" rIns="0" tIns="0" bIns="0">
            <a:spAutoFit/>
          </a:bodyPr>
          <a:lstStyle/>
          <a:p>
            <a:pPr>
              <a:spcBef>
                <a:spcPts val="0"/>
              </a:spcBef>
              <a:spcAft>
                <a:spcPts val="0"/>
              </a:spcAft>
              <a:defRPr sz="1080" b="1">
                <a:solidFill>
                  <a:srgbClr val="7752A6"/>
                </a:solidFill>
                <a:latin typeface="Arial"/>
              </a:defRPr>
            </a:pPr>
            <a:r>
              <a:t>Next-generation</a:t>
            </a:r>
          </a:p>
        </p:txBody>
      </p:sp>
      <p:cxnSp>
        <p:nvCxnSpPr>
          <p:cNvPr id="81" name="Connector 80"/>
          <p:cNvCxnSpPr/>
          <p:nvPr/>
        </p:nvCxnSpPr>
        <p:spPr>
          <a:xfrm>
            <a:off x="3489960" y="3243834"/>
            <a:ext cx="0" cy="390906"/>
          </a:xfrm>
          <a:prstGeom prst="line">
            <a:avLst/>
          </a:prstGeom>
          <a:ln w="17145">
            <a:solidFill>
              <a:srgbClr val="2463A5"/>
            </a:solidFill>
            <a:prstDash val="dash"/>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3489960" y="3634740"/>
            <a:ext cx="2366010" cy="0"/>
          </a:xfrm>
          <a:prstGeom prst="line">
            <a:avLst/>
          </a:prstGeom>
          <a:ln w="17145">
            <a:solidFill>
              <a:srgbClr val="2463A5"/>
            </a:solidFill>
            <a:prstDash val="dash"/>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855970" y="3634740"/>
            <a:ext cx="0" cy="301752"/>
          </a:xfrm>
          <a:prstGeom prst="line">
            <a:avLst/>
          </a:prstGeom>
          <a:ln w="17145">
            <a:solidFill>
              <a:srgbClr val="2463A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3723132" y="3477006"/>
            <a:ext cx="1872234" cy="253746"/>
          </a:xfrm>
          <a:prstGeom prst="rect">
            <a:avLst/>
          </a:prstGeom>
          <a:solidFill>
            <a:srgbClr val="FFFFFF"/>
          </a:solidFill>
          <a:ln w="10287">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805428" y="3518153"/>
            <a:ext cx="7776972" cy="195453"/>
          </a:xfrm>
          <a:prstGeom prst="rect">
            <a:avLst/>
          </a:prstGeom>
          <a:noFill/>
        </p:spPr>
        <p:txBody>
          <a:bodyPr wrap="none" lIns="0" rIns="0" tIns="0" bIns="0">
            <a:spAutoFit/>
          </a:bodyPr>
          <a:lstStyle/>
          <a:p>
            <a:pPr>
              <a:spcBef>
                <a:spcPts val="0"/>
              </a:spcBef>
              <a:spcAft>
                <a:spcPts val="0"/>
              </a:spcAft>
              <a:defRPr sz="1026" b="1">
                <a:solidFill>
                  <a:srgbClr val="2463A5"/>
                </a:solidFill>
                <a:latin typeface="Arial"/>
              </a:defRPr>
            </a:pPr>
            <a:r>
              <a:t>Code embedding → novelty</a:t>
            </a:r>
          </a:p>
        </p:txBody>
      </p:sp>
      <p:cxnSp>
        <p:nvCxnSpPr>
          <p:cNvPr id="86" name="Connector 85"/>
          <p:cNvCxnSpPr/>
          <p:nvPr/>
        </p:nvCxnSpPr>
        <p:spPr>
          <a:xfrm>
            <a:off x="9538716" y="5047488"/>
            <a:ext cx="0" cy="349758"/>
          </a:xfrm>
          <a:prstGeom prst="line">
            <a:avLst/>
          </a:prstGeom>
          <a:ln w="20574">
            <a:solidFill>
              <a:srgbClr val="087F82"/>
            </a:solidFill>
            <a:prstDash val="dash"/>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2413254" y="5397246"/>
            <a:ext cx="7125462" cy="0"/>
          </a:xfrm>
          <a:prstGeom prst="line">
            <a:avLst/>
          </a:prstGeom>
          <a:ln w="20574">
            <a:solidFill>
              <a:srgbClr val="087F82"/>
            </a:solidFill>
            <a:prstDash val="dash"/>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2413254" y="5047488"/>
            <a:ext cx="0" cy="349758"/>
          </a:xfrm>
          <a:prstGeom prst="line">
            <a:avLst/>
          </a:prstGeom>
          <a:ln w="20574">
            <a:solidFill>
              <a:srgbClr val="087F8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3421380" y="5260086"/>
            <a:ext cx="3483864" cy="281178"/>
          </a:xfrm>
          <a:prstGeom prst="rect">
            <a:avLst/>
          </a:prstGeom>
          <a:solidFill>
            <a:srgbClr val="FFFFFF"/>
          </a:solidFill>
          <a:ln w="10287">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531108" y="5301234"/>
            <a:ext cx="8051292" cy="226314"/>
          </a:xfrm>
          <a:prstGeom prst="rect">
            <a:avLst/>
          </a:prstGeom>
          <a:noFill/>
        </p:spPr>
        <p:txBody>
          <a:bodyPr wrap="none" lIns="0" rIns="0" tIns="0" bIns="0">
            <a:spAutoFit/>
          </a:bodyPr>
          <a:lstStyle/>
          <a:p>
            <a:pPr>
              <a:spcBef>
                <a:spcPts val="0"/>
              </a:spcBef>
              <a:spcAft>
                <a:spcPts val="0"/>
              </a:spcAft>
              <a:defRPr sz="1188" b="1">
                <a:solidFill>
                  <a:srgbClr val="087F82"/>
                </a:solidFill>
                <a:latin typeface="Arial"/>
              </a:defRPr>
            </a:pPr>
            <a:r>
              <a:t>Selected-parent textual feedback → variation</a:t>
            </a:r>
          </a:p>
        </p:txBody>
      </p:sp>
      <p:sp>
        <p:nvSpPr>
          <p:cNvPr id="91" name="Rounded Rectangle 90"/>
          <p:cNvSpPr/>
          <p:nvPr/>
        </p:nvSpPr>
        <p:spPr>
          <a:xfrm>
            <a:off x="938784" y="5801868"/>
            <a:ext cx="6391656" cy="610362"/>
          </a:xfrm>
          <a:prstGeom prst="roundRect">
            <a:avLst>
              <a:gd name="adj" fmla="val 13483"/>
            </a:avLst>
          </a:prstGeom>
          <a:solidFill>
            <a:srgbClr val="EFF5FC"/>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089660" y="5897880"/>
            <a:ext cx="10492740" cy="236600"/>
          </a:xfrm>
          <a:prstGeom prst="rect">
            <a:avLst/>
          </a:prstGeom>
          <a:noFill/>
        </p:spPr>
        <p:txBody>
          <a:bodyPr wrap="none" lIns="0" rIns="0" tIns="0" bIns="0">
            <a:spAutoFit/>
          </a:bodyPr>
          <a:lstStyle/>
          <a:p>
            <a:pPr>
              <a:spcBef>
                <a:spcPts val="0"/>
              </a:spcBef>
              <a:spcAft>
                <a:spcPts val="0"/>
              </a:spcAft>
              <a:defRPr sz="1242" b="1">
                <a:solidFill>
                  <a:srgbClr val="2463A5"/>
                </a:solidFill>
                <a:latin typeface="Arial"/>
              </a:defRPr>
            </a:pPr>
            <a:r>
              <a:t>Repeat until the configured stop condition or generation limit</a:t>
            </a:r>
          </a:p>
        </p:txBody>
      </p:sp>
      <p:sp>
        <p:nvSpPr>
          <p:cNvPr id="93" name="TextBox 92"/>
          <p:cNvSpPr txBox="1"/>
          <p:nvPr/>
        </p:nvSpPr>
        <p:spPr>
          <a:xfrm>
            <a:off x="1089660" y="6158484"/>
            <a:ext cx="10492740"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Policy-BT auto mode: champion plateau, after the minimum number of generations.</a:t>
            </a:r>
          </a:p>
        </p:txBody>
      </p:sp>
      <p:sp>
        <p:nvSpPr>
          <p:cNvPr id="94" name="Rounded Rectangle 93"/>
          <p:cNvSpPr/>
          <p:nvPr/>
        </p:nvSpPr>
        <p:spPr>
          <a:xfrm>
            <a:off x="7824216" y="5726430"/>
            <a:ext cx="3429000" cy="685800"/>
          </a:xfrm>
          <a:prstGeom prst="roundRect">
            <a:avLst>
              <a:gd name="adj" fmla="val 12000"/>
            </a:avLst>
          </a:prstGeom>
          <a:solidFill>
            <a:srgbClr val="FFF5E9"/>
          </a:solidFill>
          <a:ln w="1028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961376" y="5822442"/>
            <a:ext cx="3621024" cy="257175"/>
          </a:xfrm>
          <a:prstGeom prst="rect">
            <a:avLst/>
          </a:prstGeom>
          <a:noFill/>
        </p:spPr>
        <p:txBody>
          <a:bodyPr wrap="none" lIns="0" rIns="0" tIns="0" bIns="0">
            <a:spAutoFit/>
          </a:bodyPr>
          <a:lstStyle/>
          <a:p>
            <a:pPr>
              <a:spcBef>
                <a:spcPts val="0"/>
              </a:spcBef>
              <a:spcAft>
                <a:spcPts val="0"/>
              </a:spcAft>
              <a:defRPr sz="1350" b="1">
                <a:solidFill>
                  <a:srgbClr val="AF6425"/>
                </a:solidFill>
                <a:latin typeface="Arial"/>
              </a:defRPr>
            </a:pPr>
            <a:r>
              <a:t>Restore the best workspace</a:t>
            </a:r>
          </a:p>
        </p:txBody>
      </p:sp>
      <p:sp>
        <p:nvSpPr>
          <p:cNvPr id="96" name="TextBox 95"/>
          <p:cNvSpPr txBox="1"/>
          <p:nvPr/>
        </p:nvSpPr>
        <p:spPr>
          <a:xfrm>
            <a:off x="7961376" y="6089904"/>
            <a:ext cx="3621024"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Highest current BT rating—not the latest run</a:t>
            </a:r>
          </a:p>
        </p:txBody>
      </p:sp>
      <p:cxnSp>
        <p:nvCxnSpPr>
          <p:cNvPr id="97" name="Connector 96"/>
          <p:cNvCxnSpPr/>
          <p:nvPr/>
        </p:nvCxnSpPr>
        <p:spPr>
          <a:xfrm>
            <a:off x="7330440" y="6110478"/>
            <a:ext cx="493776" cy="0"/>
          </a:xfrm>
          <a:prstGeom prst="line">
            <a:avLst/>
          </a:prstGeom>
          <a:ln w="20574">
            <a:solidFill>
              <a:srgbClr val="AF6425"/>
            </a:solidFill>
            <a:tailEnd type="triangle"/>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938784" y="6590538"/>
            <a:ext cx="10643615"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QD = quality–diversity.  Numeric rewards guide selection; textual diagnoses guide changes.  Benchmark grading is separate.</a:t>
            </a:r>
          </a:p>
        </p:txBody>
      </p:sp>
      <p:sp>
        <p:nvSpPr>
          <p:cNvPr id="99" name="TextBox 98"/>
          <p:cNvSpPr txBox="1"/>
          <p:nvPr/>
        </p:nvSpPr>
        <p:spPr>
          <a:xfrm>
            <a:off x="1123950" y="3600450"/>
            <a:ext cx="10458450" cy="205740"/>
          </a:xfrm>
          <a:prstGeom prst="rect">
            <a:avLst/>
          </a:prstGeom>
          <a:noFill/>
        </p:spPr>
        <p:txBody>
          <a:bodyPr wrap="none" lIns="0" rIns="0" tIns="0" bIns="0">
            <a:spAutoFit/>
          </a:bodyPr>
          <a:lstStyle/>
          <a:p>
            <a:pPr>
              <a:spcBef>
                <a:spcPts val="0"/>
              </a:spcBef>
              <a:spcAft>
                <a:spcPts val="0"/>
              </a:spcAft>
              <a:defRPr sz="1080" b="1">
                <a:solidFill>
                  <a:srgbClr val="7752A6"/>
                </a:solidFill>
                <a:latin typeface="Arial"/>
              </a:defRPr>
            </a:pPr>
            <a:r>
              <a:t>prompt</a:t>
            </a:r>
          </a:p>
        </p:txBody>
      </p:sp>
      <p:cxnSp>
        <p:nvCxnSpPr>
          <p:cNvPr id="100" name="Connector 99"/>
          <p:cNvCxnSpPr/>
          <p:nvPr/>
        </p:nvCxnSpPr>
        <p:spPr>
          <a:xfrm>
            <a:off x="11088624" y="4560570"/>
            <a:ext cx="294894" cy="0"/>
          </a:xfrm>
          <a:prstGeom prst="line">
            <a:avLst/>
          </a:prstGeom>
          <a:ln w="13716">
            <a:solidFill>
              <a:srgbClr val="AF6425"/>
            </a:solidFill>
            <a:prstDash val="dash"/>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1383518" y="4560570"/>
            <a:ext cx="0" cy="1508760"/>
          </a:xfrm>
          <a:prstGeom prst="line">
            <a:avLst/>
          </a:prstGeom>
          <a:ln w="13716">
            <a:solidFill>
              <a:srgbClr val="AF6425"/>
            </a:solidFill>
            <a:prstDash val="dash"/>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11253216" y="6069330"/>
            <a:ext cx="130302" cy="0"/>
          </a:xfrm>
          <a:prstGeom prst="line">
            <a:avLst/>
          </a:prstGeom>
          <a:ln w="13716">
            <a:solidFill>
              <a:srgbClr val="AF642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7412736" y="5897880"/>
            <a:ext cx="4169664" cy="174879"/>
          </a:xfrm>
          <a:prstGeom prst="rect">
            <a:avLst/>
          </a:prstGeom>
          <a:noFill/>
        </p:spPr>
        <p:txBody>
          <a:bodyPr wrap="none" lIns="0" rIns="0" tIns="0" bIns="0">
            <a:spAutoFit/>
          </a:bodyPr>
          <a:lstStyle/>
          <a:p>
            <a:pPr>
              <a:spcBef>
                <a:spcPts val="0"/>
              </a:spcBef>
              <a:spcAft>
                <a:spcPts val="0"/>
              </a:spcAft>
              <a:defRPr sz="918" b="1">
                <a:solidFill>
                  <a:srgbClr val="AF6425"/>
                </a:solidFill>
                <a:latin typeface="Arial"/>
              </a:defRPr>
            </a:pPr>
            <a:r>
              <a:t>stop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