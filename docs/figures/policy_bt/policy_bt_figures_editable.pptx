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Policy-BT workspace evaluation. (A) The verifier preserves generation artifacts, checks a required reproduction contract and, by default, reruns the submitted shell script in a fresh virtual environment. Goal-grounded reconnaissance establishes fixed, ordered criteria and schema adapters that read actual artifacts. (B) A shared deterministic Python policy compares normalized evidence at the earliest decisive stage. A code tie may be resolved using relevant images from both sides, but only when judgments in both presentation orders agree. Each pair yields a winner or tie, a stage, evidence and side-specific feedback. (C) A regularized Bradley–Terry model fits all pair outcomes and updates each generation’s current reward. Numeric rewards support selection; evidence-grounded diagnoses guide mutation. Ineligible generations receive zero; the verifier does not supply a benchmark grade.</a:t>
            </a:r>
          </a:p>
          <a:p/>
          <a:p>
            <a:r>
              <a:t>Source: docs/concepts/evaluation-pipeline.md:35–141; sources/evaluators/policy_bt_verifier/{evaluator,policy,prompts,visual,tournament,results}.py. Implementation checked 2026-10-16. Diagram nodes and text are editable; network is schematic, not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and scoring details. Snapshot admission precedes artifact comparison. Task criteria, order and representation remain fixed; schema adapters can expand and instrument code can be repaired without changing the success definition. The restricted interpreter checks reverse-order consistency, self-ties and repeated execution. Vision is conditional on a deterministic tie and relevant images from both sides. The tournament contains every unordered generation pair, including execution-admission outcomes. For each ordered representation (i,j) of an unordered pair, y is 1, 1/2 or 0 for an i win, tie or loss. A unit-precision zero-mean Gaussian prior regularizes the Bradley–Terry strengths. The published reward is the logistic probability of beating a neutral-strength opponent, except ineligible generations are forced to zero. Instrument failures are unscored. Pair results are keyed by bundle version. A bundle-version change recomputes every pair; in the current implementation, a new eligible generation changes that version through its schema assignment and visual selection. Current ratings refresh while historical arrival scores and previously emitted gradients are preserved. The first sum runs once over each unordered pair; minimization is over the full strength vector θ. An eligible generation beats an ineligible one; two ineligible generations tie.</a:t>
            </a:r>
          </a:p>
          <a:p/>
          <a:p>
            <a:r>
              <a:t>Source: docs/concepts/evaluation-pipeline.md:35–141; sources/evaluators/policy_bt_verifier/{evaluator,policy,prompts,visual,tournament,results}.py. Implementation checked 2026-10-16. Diagram nodes and text are editable; network is schematic, not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overview. Preserved workspace evidence is admitted and normalized, compared by one task-specific deterministic policy, and optionally judged visually after code ties. The full pair-verdict history feeds a regularized Bradley–Terry fit. All current generation rewards refresh; evidence-grounded feedback guides subsequent mutation. Neither raw win rate nor hidden benchmark labels define the reward. Admission verdicts precede the two artifact-evidence channels and also enter the tournament.</a:t>
            </a:r>
          </a:p>
          <a:p/>
          <a:p>
            <a:r>
              <a:t>Source: docs/concepts/evaluation-pipeline.md:35–141; sources/evaluators/policy_bt_verifier/{evaluator,policy,prompts,visual,tournament,results}.py. Implementation checked 2026-10-16. Diagram nodes and text are editable; network is schematic, not measured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Mimosa-AI evolution loop with the Policy-BT verifier. A task goal, input data and available scientific tools condition LLM synthesis of a custom multi-agent workflow as executable Python (the genotype). Initialization can include multiple seed generations before parent-driven variation. The runner resets the workspace to its initial state, executes the workflow through the sandboxed runner and saves the produced artifacts. Policy-BT takes owned snapshots, assesses a mandatory reproduction script and, by default, reruns it in a fresh virtual environment. Goal-grounded reconnaissance fixes the comparison criteria and builds schema adapters. A cached deterministic Python policy compares each pair of generation workspaces; relevant images can resolve code ties only with agreement across both presentation orders. A regularized Bradley–Terry fit over all pair outcomes refreshes the current rewards of every generation. The default quality–diversity search combines those rewards with genotype-embedding novelty and a code-length penalty, admits survivors and selects parents. Mutation converts the selected parent’s diagnosis and search state into a directive for the code-generating LLM; crossover recombines selected parent workflows and their feedback without a separate mutation-directive call. Thus the next candidate need not descend from the most recent generation. The loop continues until the configured stopping rule or generation limit. With Policy-BT auto stopping, the rule is a head-to-head champion plateau after the minimum iteration count. The final workspace is restored from the generation with the highest current Bradley–Terry rating, not necessarily the last generation or the stopping controller’s champion. The diagram shows the successful generation path: generation/execution failures and verifier instrument errors are unscored and excluded from QD admission; reproduction-ineligible generations receive a published reward of zero and still contribute admission pair outcomes to the tournament. Verifier reruns are trusted local shell execution, not the workflow sandbox. Planner mode supplies task goals to this per-task loop; the planner is optional and outside the loop. The mini agent graph is schematic, not a fixed agent count or topology.</a:t>
            </a:r>
          </a:p>
          <a:p/>
          <a:p>
            <a:r>
              <a:t>Sources: sources/core/evolution_engine.py:125–161,407–467,941–1029,1070–1209,1246–1364; sources/core/selection.py:341–364,750–780; sources/core/variation_engine.py:731–900; sources/core/stopping.py:42–60; docs/concepts/evaluation-pipeline.md:35–141. Source checked 2026-10-16. Native editable text, shapes and connectors.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0980"/>
            <a:ext cx="11826240" cy="434340"/>
          </a:xfrm>
          <a:prstGeom prst="rect">
            <a:avLst/>
          </a:prstGeom>
          <a:noFill/>
        </p:spPr>
        <p:txBody>
          <a:bodyPr wrap="none" lIns="0" rIns="0" tIns="0" bIns="0">
            <a:spAutoFit/>
          </a:bodyPr>
          <a:lstStyle/>
          <a:p>
            <a:pPr>
              <a:spcBef>
                <a:spcPts val="0"/>
              </a:spcBef>
              <a:spcAft>
                <a:spcPts val="0"/>
              </a:spcAft>
              <a:defRPr sz="2280" b="1">
                <a:solidFill>
                  <a:srgbClr val="182C40"/>
                </a:solidFill>
                <a:latin typeface="Arial"/>
              </a:defRPr>
            </a:pPr>
            <a:r>
              <a:t>Policy-BT: from workspace evidence to evolutionary feedback</a:t>
            </a:r>
          </a:p>
        </p:txBody>
      </p:sp>
      <p:sp>
        <p:nvSpPr>
          <p:cNvPr id="3" name="TextBox 2"/>
          <p:cNvSpPr txBox="1"/>
          <p:nvPr/>
        </p:nvSpPr>
        <p:spPr>
          <a:xfrm>
            <a:off x="365760" y="632460"/>
            <a:ext cx="1182624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One task, one fixed comparison contract; a growing tournament of generation workspaces.</a:t>
            </a:r>
          </a:p>
        </p:txBody>
      </p:sp>
      <p:sp>
        <p:nvSpPr>
          <p:cNvPr id="4" name="Rounded Rectangle 3"/>
          <p:cNvSpPr/>
          <p:nvPr/>
        </p:nvSpPr>
        <p:spPr>
          <a:xfrm>
            <a:off x="365760" y="1082040"/>
            <a:ext cx="3200400" cy="4495800"/>
          </a:xfrm>
          <a:prstGeom prst="roundRect">
            <a:avLst>
              <a:gd name="adj" fmla="val 3809"/>
            </a:avLst>
          </a:prstGeom>
          <a:solidFill>
            <a:srgbClr val="FFFFFF"/>
          </a:solidFill>
          <a:ln w="11430">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72440" y="1196340"/>
            <a:ext cx="228600" cy="228600"/>
          </a:xfrm>
          <a:prstGeom prst="ellipse">
            <a:avLst/>
          </a:prstGeom>
          <a:solidFill>
            <a:srgbClr val="087F82"/>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5780" y="1211580"/>
            <a:ext cx="11666220" cy="217170"/>
          </a:xfrm>
          <a:prstGeom prst="rect">
            <a:avLst/>
          </a:prstGeom>
          <a:noFill/>
        </p:spPr>
        <p:txBody>
          <a:bodyPr wrap="none" lIns="0" rIns="0" tIns="0" bIns="0">
            <a:spAutoFit/>
          </a:bodyPr>
          <a:lstStyle/>
          <a:p>
            <a:pPr>
              <a:spcBef>
                <a:spcPts val="0"/>
              </a:spcBef>
              <a:spcAft>
                <a:spcPts val="0"/>
              </a:spcAft>
              <a:defRPr sz="1140" b="1">
                <a:solidFill>
                  <a:srgbClr val="FFFFFF"/>
                </a:solidFill>
                <a:latin typeface="Arial"/>
              </a:defRPr>
            </a:pPr>
            <a:r>
              <a:t>A</a:t>
            </a:r>
          </a:p>
        </p:txBody>
      </p:sp>
      <p:sp>
        <p:nvSpPr>
          <p:cNvPr id="7" name="TextBox 6"/>
          <p:cNvSpPr txBox="1"/>
          <p:nvPr/>
        </p:nvSpPr>
        <p:spPr>
          <a:xfrm>
            <a:off x="777240" y="1181100"/>
            <a:ext cx="11414760" cy="285750"/>
          </a:xfrm>
          <a:prstGeom prst="rect">
            <a:avLst/>
          </a:prstGeom>
          <a:noFill/>
        </p:spPr>
        <p:txBody>
          <a:bodyPr wrap="none" lIns="0" rIns="0" tIns="0" bIns="0">
            <a:spAutoFit/>
          </a:bodyPr>
          <a:lstStyle/>
          <a:p>
            <a:pPr>
              <a:spcBef>
                <a:spcPts val="0"/>
              </a:spcBef>
              <a:spcAft>
                <a:spcPts val="0"/>
              </a:spcAft>
              <a:defRPr sz="1500" b="1">
                <a:solidFill>
                  <a:srgbClr val="182C40"/>
                </a:solidFill>
                <a:latin typeface="Arial"/>
              </a:defRPr>
            </a:pPr>
            <a:r>
              <a:t>Admit and normalize</a:t>
            </a:r>
          </a:p>
        </p:txBody>
      </p:sp>
      <p:sp>
        <p:nvSpPr>
          <p:cNvPr id="8" name="Rounded Rectangle 7"/>
          <p:cNvSpPr/>
          <p:nvPr/>
        </p:nvSpPr>
        <p:spPr>
          <a:xfrm>
            <a:off x="640080" y="1577340"/>
            <a:ext cx="472440" cy="548640"/>
          </a:xfrm>
          <a:prstGeom prst="roundRect">
            <a:avLst>
              <a:gd name="adj" fmla="val 6451"/>
            </a:avLst>
          </a:prstGeom>
          <a:solidFill>
            <a:srgbClr val="FFFFFF"/>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1500" y="1653540"/>
            <a:ext cx="472440" cy="548640"/>
          </a:xfrm>
          <a:prstGeom prst="roundRect">
            <a:avLst>
              <a:gd name="adj" fmla="val 6451"/>
            </a:avLst>
          </a:prstGeom>
          <a:solidFill>
            <a:srgbClr val="FFFFFF"/>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662940" y="1790700"/>
            <a:ext cx="274319"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62940" y="1897380"/>
            <a:ext cx="274319"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62940" y="2004060"/>
            <a:ext cx="182880"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57300" y="1592580"/>
            <a:ext cx="10934700" cy="285750"/>
          </a:xfrm>
          <a:prstGeom prst="rect">
            <a:avLst/>
          </a:prstGeom>
          <a:noFill/>
        </p:spPr>
        <p:txBody>
          <a:bodyPr wrap="none" lIns="0" rIns="0" tIns="0" bIns="0">
            <a:spAutoFit/>
          </a:bodyPr>
          <a:lstStyle/>
          <a:p>
            <a:pPr>
              <a:spcBef>
                <a:spcPts val="0"/>
              </a:spcBef>
              <a:spcAft>
                <a:spcPts val="0"/>
              </a:spcAft>
              <a:defRPr sz="1500" b="1">
                <a:solidFill>
                  <a:srgbClr val="182C40"/>
                </a:solidFill>
                <a:latin typeface="Arial"/>
              </a:defRPr>
            </a:pPr>
            <a:r>
              <a:t>Generation workspace</a:t>
            </a:r>
          </a:p>
        </p:txBody>
      </p:sp>
      <p:sp>
        <p:nvSpPr>
          <p:cNvPr id="14" name="TextBox 13"/>
          <p:cNvSpPr txBox="1"/>
          <p:nvPr/>
        </p:nvSpPr>
        <p:spPr>
          <a:xfrm>
            <a:off x="1257300" y="1889760"/>
            <a:ext cx="10934700" cy="240030"/>
          </a:xfrm>
          <a:prstGeom prst="rect">
            <a:avLst/>
          </a:prstGeom>
          <a:noFill/>
        </p:spPr>
        <p:txBody>
          <a:bodyPr wrap="none" lIns="0" rIns="0" tIns="0" bIns="0">
            <a:spAutoFit/>
          </a:bodyPr>
          <a:lstStyle/>
          <a:p>
            <a:pPr>
              <a:spcBef>
                <a:spcPts val="0"/>
              </a:spcBef>
              <a:spcAft>
                <a:spcPts val="0"/>
              </a:spcAft>
              <a:defRPr sz="1260" b="0">
                <a:solidFill>
                  <a:srgbClr val="526779"/>
                </a:solidFill>
                <a:latin typeface="Arial"/>
              </a:defRPr>
            </a:pPr>
            <a:r>
              <a:t>Scripts · logs · tables</a:t>
            </a:r>
          </a:p>
        </p:txBody>
      </p:sp>
      <p:sp>
        <p:nvSpPr>
          <p:cNvPr id="15" name="TextBox 14"/>
          <p:cNvSpPr txBox="1"/>
          <p:nvPr/>
        </p:nvSpPr>
        <p:spPr>
          <a:xfrm>
            <a:off x="1257300" y="2125980"/>
            <a:ext cx="10934700" cy="240030"/>
          </a:xfrm>
          <a:prstGeom prst="rect">
            <a:avLst/>
          </a:prstGeom>
          <a:noFill/>
        </p:spPr>
        <p:txBody>
          <a:bodyPr wrap="none" lIns="0" rIns="0" tIns="0" bIns="0">
            <a:spAutoFit/>
          </a:bodyPr>
          <a:lstStyle/>
          <a:p>
            <a:pPr>
              <a:spcBef>
                <a:spcPts val="0"/>
              </a:spcBef>
              <a:spcAft>
                <a:spcPts val="0"/>
              </a:spcAft>
              <a:defRPr sz="1260" b="0">
                <a:solidFill>
                  <a:srgbClr val="526779"/>
                </a:solidFill>
                <a:latin typeface="Arial"/>
              </a:defRPr>
            </a:pPr>
            <a:r>
              <a:t>Goal-relevant figures</a:t>
            </a:r>
          </a:p>
        </p:txBody>
      </p:sp>
      <p:cxnSp>
        <p:nvCxnSpPr>
          <p:cNvPr id="16" name="Connector 15"/>
          <p:cNvCxnSpPr/>
          <p:nvPr/>
        </p:nvCxnSpPr>
        <p:spPr>
          <a:xfrm>
            <a:off x="1965960" y="2316480"/>
            <a:ext cx="0" cy="19812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63880" y="2529840"/>
            <a:ext cx="2804160" cy="990599"/>
          </a:xfrm>
          <a:prstGeom prst="roundRect">
            <a:avLst>
              <a:gd name="adj" fmla="val 9230"/>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6280" y="2636520"/>
            <a:ext cx="11475720" cy="285750"/>
          </a:xfrm>
          <a:prstGeom prst="rect">
            <a:avLst/>
          </a:prstGeom>
          <a:noFill/>
        </p:spPr>
        <p:txBody>
          <a:bodyPr wrap="none" lIns="0" rIns="0" tIns="0" bIns="0">
            <a:spAutoFit/>
          </a:bodyPr>
          <a:lstStyle/>
          <a:p>
            <a:pPr>
              <a:spcBef>
                <a:spcPts val="0"/>
              </a:spcBef>
              <a:spcAft>
                <a:spcPts val="0"/>
              </a:spcAft>
              <a:defRPr sz="1500" b="1">
                <a:solidFill>
                  <a:srgbClr val="087F82"/>
                </a:solidFill>
                <a:latin typeface="Arial"/>
              </a:defRPr>
            </a:pPr>
            <a:r>
              <a:t>Snapshot + reproduction</a:t>
            </a:r>
          </a:p>
        </p:txBody>
      </p:sp>
      <p:sp>
        <p:nvSpPr>
          <p:cNvPr id="19" name="TextBox 18"/>
          <p:cNvSpPr txBox="1"/>
          <p:nvPr/>
        </p:nvSpPr>
        <p:spPr>
          <a:xfrm>
            <a:off x="716280" y="2933700"/>
            <a:ext cx="114757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Required shell-script contract</a:t>
            </a:r>
          </a:p>
        </p:txBody>
      </p:sp>
      <p:sp>
        <p:nvSpPr>
          <p:cNvPr id="20" name="TextBox 19"/>
          <p:cNvSpPr txBox="1"/>
          <p:nvPr/>
        </p:nvSpPr>
        <p:spPr>
          <a:xfrm>
            <a:off x="716280" y="3169920"/>
            <a:ext cx="114757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Fresh-venv rerun by default</a:t>
            </a:r>
          </a:p>
        </p:txBody>
      </p:sp>
      <p:sp>
        <p:nvSpPr>
          <p:cNvPr id="21" name="Rounded Rectangle 20"/>
          <p:cNvSpPr/>
          <p:nvPr/>
        </p:nvSpPr>
        <p:spPr>
          <a:xfrm>
            <a:off x="716280" y="3627120"/>
            <a:ext cx="2209800" cy="259080"/>
          </a:xfrm>
          <a:prstGeom prst="roundRect">
            <a:avLst>
              <a:gd name="adj" fmla="val 17647"/>
            </a:avLst>
          </a:prstGeom>
          <a:solidFill>
            <a:srgbClr val="FCEFED"/>
          </a:solidFill>
          <a:ln w="11430">
            <a:solidFill>
              <a:srgbClr val="A84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0100" y="3657600"/>
            <a:ext cx="11391900" cy="194310"/>
          </a:xfrm>
          <a:prstGeom prst="rect">
            <a:avLst/>
          </a:prstGeom>
          <a:noFill/>
        </p:spPr>
        <p:txBody>
          <a:bodyPr wrap="none" lIns="0" rIns="0" tIns="0" bIns="0">
            <a:spAutoFit/>
          </a:bodyPr>
          <a:lstStyle/>
          <a:p>
            <a:pPr>
              <a:spcBef>
                <a:spcPts val="0"/>
              </a:spcBef>
              <a:spcAft>
                <a:spcPts val="0"/>
              </a:spcAft>
              <a:defRPr sz="1019" b="1">
                <a:solidFill>
                  <a:srgbClr val="A84943"/>
                </a:solidFill>
                <a:latin typeface="Arial"/>
              </a:defRPr>
            </a:pPr>
            <a:r>
              <a:t>Ineligible → reward 0</a:t>
            </a:r>
          </a:p>
        </p:txBody>
      </p:sp>
      <p:sp>
        <p:nvSpPr>
          <p:cNvPr id="23" name="Rounded Rectangle 22"/>
          <p:cNvSpPr/>
          <p:nvPr/>
        </p:nvSpPr>
        <p:spPr>
          <a:xfrm>
            <a:off x="563880" y="4152900"/>
            <a:ext cx="2804160" cy="1203960"/>
          </a:xfrm>
          <a:prstGeom prst="roundRect">
            <a:avLst>
              <a:gd name="adj" fmla="val 7594"/>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6280" y="4259580"/>
            <a:ext cx="11475720" cy="285750"/>
          </a:xfrm>
          <a:prstGeom prst="rect">
            <a:avLst/>
          </a:prstGeom>
          <a:noFill/>
        </p:spPr>
        <p:txBody>
          <a:bodyPr wrap="none" lIns="0" rIns="0" tIns="0" bIns="0">
            <a:spAutoFit/>
          </a:bodyPr>
          <a:lstStyle/>
          <a:p>
            <a:pPr>
              <a:spcBef>
                <a:spcPts val="0"/>
              </a:spcBef>
              <a:spcAft>
                <a:spcPts val="0"/>
              </a:spcAft>
              <a:defRPr sz="1500" b="1">
                <a:solidFill>
                  <a:srgbClr val="087F82"/>
                </a:solidFill>
                <a:latin typeface="Arial"/>
              </a:defRPr>
            </a:pPr>
            <a:r>
              <a:t>Reconnaissance + adapters</a:t>
            </a:r>
          </a:p>
        </p:txBody>
      </p:sp>
      <p:sp>
        <p:nvSpPr>
          <p:cNvPr id="25" name="TextBox 24"/>
          <p:cNvSpPr txBox="1"/>
          <p:nvPr/>
        </p:nvSpPr>
        <p:spPr>
          <a:xfrm>
            <a:off x="716280" y="4556760"/>
            <a:ext cx="114757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Goal → fixed, ordered criteria</a:t>
            </a:r>
          </a:p>
        </p:txBody>
      </p:sp>
      <p:sp>
        <p:nvSpPr>
          <p:cNvPr id="26" name="TextBox 25"/>
          <p:cNvSpPr txBox="1"/>
          <p:nvPr/>
        </p:nvSpPr>
        <p:spPr>
          <a:xfrm>
            <a:off x="716280" y="4792980"/>
            <a:ext cx="114757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Artifact schemas → shared values</a:t>
            </a:r>
          </a:p>
        </p:txBody>
      </p:sp>
      <p:sp>
        <p:nvSpPr>
          <p:cNvPr id="27" name="TextBox 26"/>
          <p:cNvSpPr txBox="1"/>
          <p:nvPr/>
        </p:nvSpPr>
        <p:spPr>
          <a:xfrm>
            <a:off x="716280" y="5029200"/>
            <a:ext cx="11475720" cy="228600"/>
          </a:xfrm>
          <a:prstGeom prst="rect">
            <a:avLst/>
          </a:prstGeom>
          <a:noFill/>
        </p:spPr>
        <p:txBody>
          <a:bodyPr wrap="none" lIns="0" rIns="0" tIns="0" bIns="0">
            <a:spAutoFit/>
          </a:bodyPr>
          <a:lstStyle/>
          <a:p>
            <a:pPr>
              <a:spcBef>
                <a:spcPts val="0"/>
              </a:spcBef>
              <a:spcAft>
                <a:spcPts val="0"/>
              </a:spcAft>
              <a:defRPr sz="1200" b="0">
                <a:solidFill>
                  <a:srgbClr val="526779"/>
                </a:solidFill>
                <a:latin typeface="Arial"/>
              </a:defRPr>
            </a:pPr>
            <a:r>
              <a:t>Measured values; unknown = null</a:t>
            </a:r>
          </a:p>
        </p:txBody>
      </p:sp>
      <p:sp>
        <p:nvSpPr>
          <p:cNvPr id="28" name="Rounded Rectangle 27"/>
          <p:cNvSpPr/>
          <p:nvPr/>
        </p:nvSpPr>
        <p:spPr>
          <a:xfrm>
            <a:off x="3794760" y="1082040"/>
            <a:ext cx="4229100" cy="4495800"/>
          </a:xfrm>
          <a:prstGeom prst="roundRect">
            <a:avLst>
              <a:gd name="adj" fmla="val 2882"/>
            </a:avLst>
          </a:prstGeom>
          <a:solidFill>
            <a:srgbClr val="FFFFFF"/>
          </a:solidFill>
          <a:ln w="11430">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901440" y="1196340"/>
            <a:ext cx="228600" cy="228600"/>
          </a:xfrm>
          <a:prstGeom prst="ellipse">
            <a:avLst/>
          </a:prstGeom>
          <a:solidFill>
            <a:srgbClr val="2463A5"/>
          </a:solidFill>
          <a:ln w="11430">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54780" y="1211580"/>
            <a:ext cx="8237220" cy="217170"/>
          </a:xfrm>
          <a:prstGeom prst="rect">
            <a:avLst/>
          </a:prstGeom>
          <a:noFill/>
        </p:spPr>
        <p:txBody>
          <a:bodyPr wrap="none" lIns="0" rIns="0" tIns="0" bIns="0">
            <a:spAutoFit/>
          </a:bodyPr>
          <a:lstStyle/>
          <a:p>
            <a:pPr>
              <a:spcBef>
                <a:spcPts val="0"/>
              </a:spcBef>
              <a:spcAft>
                <a:spcPts val="0"/>
              </a:spcAft>
              <a:defRPr sz="1140" b="1">
                <a:solidFill>
                  <a:srgbClr val="FFFFFF"/>
                </a:solidFill>
                <a:latin typeface="Arial"/>
              </a:defRPr>
            </a:pPr>
            <a:r>
              <a:t>B</a:t>
            </a:r>
          </a:p>
        </p:txBody>
      </p:sp>
      <p:sp>
        <p:nvSpPr>
          <p:cNvPr id="31" name="TextBox 30"/>
          <p:cNvSpPr txBox="1"/>
          <p:nvPr/>
        </p:nvSpPr>
        <p:spPr>
          <a:xfrm>
            <a:off x="4206240" y="1181100"/>
            <a:ext cx="7985759" cy="285750"/>
          </a:xfrm>
          <a:prstGeom prst="rect">
            <a:avLst/>
          </a:prstGeom>
          <a:noFill/>
        </p:spPr>
        <p:txBody>
          <a:bodyPr wrap="none" lIns="0" rIns="0" tIns="0" bIns="0">
            <a:spAutoFit/>
          </a:bodyPr>
          <a:lstStyle/>
          <a:p>
            <a:pPr>
              <a:spcBef>
                <a:spcPts val="0"/>
              </a:spcBef>
              <a:spcAft>
                <a:spcPts val="0"/>
              </a:spcAft>
              <a:defRPr sz="1500" b="1">
                <a:solidFill>
                  <a:srgbClr val="182C40"/>
                </a:solidFill>
                <a:latin typeface="Arial"/>
              </a:defRPr>
            </a:pPr>
            <a:r>
              <a:t>Decide each workspace pair</a:t>
            </a:r>
          </a:p>
        </p:txBody>
      </p:sp>
      <p:sp>
        <p:nvSpPr>
          <p:cNvPr id="32" name="Rounded Rectangle 31"/>
          <p:cNvSpPr/>
          <p:nvPr/>
        </p:nvSpPr>
        <p:spPr>
          <a:xfrm>
            <a:off x="4000500" y="1554480"/>
            <a:ext cx="1607820" cy="259080"/>
          </a:xfrm>
          <a:prstGeom prst="roundRect">
            <a:avLst>
              <a:gd name="adj" fmla="val 17647"/>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84320" y="1584960"/>
            <a:ext cx="8107680" cy="205740"/>
          </a:xfrm>
          <a:prstGeom prst="rect">
            <a:avLst/>
          </a:prstGeom>
          <a:noFill/>
        </p:spPr>
        <p:txBody>
          <a:bodyPr wrap="none" lIns="0" rIns="0" tIns="0" bIns="0">
            <a:spAutoFit/>
          </a:bodyPr>
          <a:lstStyle/>
          <a:p>
            <a:pPr>
              <a:spcBef>
                <a:spcPts val="0"/>
              </a:spcBef>
              <a:spcAft>
                <a:spcPts val="0"/>
              </a:spcAft>
              <a:defRPr sz="1080" b="1">
                <a:solidFill>
                  <a:srgbClr val="087F82"/>
                </a:solidFill>
                <a:latin typeface="Arial"/>
              </a:defRPr>
            </a:pPr>
            <a:r>
              <a:t>Workspace A values</a:t>
            </a:r>
          </a:p>
        </p:txBody>
      </p:sp>
      <p:sp>
        <p:nvSpPr>
          <p:cNvPr id="34" name="Rounded Rectangle 33"/>
          <p:cNvSpPr/>
          <p:nvPr/>
        </p:nvSpPr>
        <p:spPr>
          <a:xfrm>
            <a:off x="6172200" y="1554480"/>
            <a:ext cx="1645920" cy="259080"/>
          </a:xfrm>
          <a:prstGeom prst="roundRect">
            <a:avLst>
              <a:gd name="adj" fmla="val 17647"/>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6020" y="1584960"/>
            <a:ext cx="5935980" cy="205740"/>
          </a:xfrm>
          <a:prstGeom prst="rect">
            <a:avLst/>
          </a:prstGeom>
          <a:noFill/>
        </p:spPr>
        <p:txBody>
          <a:bodyPr wrap="none" lIns="0" rIns="0" tIns="0" bIns="0">
            <a:spAutoFit/>
          </a:bodyPr>
          <a:lstStyle/>
          <a:p>
            <a:pPr>
              <a:spcBef>
                <a:spcPts val="0"/>
              </a:spcBef>
              <a:spcAft>
                <a:spcPts val="0"/>
              </a:spcAft>
              <a:defRPr sz="1080" b="1">
                <a:solidFill>
                  <a:srgbClr val="087F82"/>
                </a:solidFill>
                <a:latin typeface="Arial"/>
              </a:defRPr>
            </a:pPr>
            <a:r>
              <a:t>Workspace B values</a:t>
            </a:r>
          </a:p>
        </p:txBody>
      </p:sp>
      <p:cxnSp>
        <p:nvCxnSpPr>
          <p:cNvPr id="36" name="Connector 35"/>
          <p:cNvCxnSpPr/>
          <p:nvPr/>
        </p:nvCxnSpPr>
        <p:spPr>
          <a:xfrm>
            <a:off x="4800600" y="1828800"/>
            <a:ext cx="0" cy="19050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00600" y="2019300"/>
            <a:ext cx="1104900" cy="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05500" y="2019300"/>
            <a:ext cx="0" cy="152400"/>
          </a:xfrm>
          <a:prstGeom prst="line">
            <a:avLst/>
          </a:prstGeom>
          <a:ln w="19050">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972300" y="1828800"/>
            <a:ext cx="0" cy="19050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905500" y="2019300"/>
            <a:ext cx="1066800" cy="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000500" y="2194560"/>
            <a:ext cx="3817620" cy="1059180"/>
          </a:xfrm>
          <a:prstGeom prst="roundRect">
            <a:avLst>
              <a:gd name="adj" fmla="val 8633"/>
            </a:avLst>
          </a:prstGeom>
          <a:solidFill>
            <a:srgbClr val="EFF5FC"/>
          </a:solidFill>
          <a:ln w="11430">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52900" y="2301240"/>
            <a:ext cx="8039099" cy="285750"/>
          </a:xfrm>
          <a:prstGeom prst="rect">
            <a:avLst/>
          </a:prstGeom>
          <a:noFill/>
        </p:spPr>
        <p:txBody>
          <a:bodyPr wrap="none" lIns="0" rIns="0" tIns="0" bIns="0">
            <a:spAutoFit/>
          </a:bodyPr>
          <a:lstStyle/>
          <a:p>
            <a:pPr>
              <a:spcBef>
                <a:spcPts val="0"/>
              </a:spcBef>
              <a:spcAft>
                <a:spcPts val="0"/>
              </a:spcAft>
              <a:defRPr sz="1500" b="1">
                <a:solidFill>
                  <a:srgbClr val="2463A5"/>
                </a:solidFill>
                <a:latin typeface="Arial"/>
              </a:defRPr>
            </a:pPr>
            <a:r>
              <a:t>Cached Python comparison policy</a:t>
            </a:r>
          </a:p>
        </p:txBody>
      </p:sp>
      <p:sp>
        <p:nvSpPr>
          <p:cNvPr id="43" name="TextBox 42"/>
          <p:cNvSpPr txBox="1"/>
          <p:nvPr/>
        </p:nvSpPr>
        <p:spPr>
          <a:xfrm>
            <a:off x="4152900" y="2598420"/>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Same task criteria for both workspaces</a:t>
            </a:r>
          </a:p>
        </p:txBody>
      </p:sp>
      <p:sp>
        <p:nvSpPr>
          <p:cNvPr id="44" name="TextBox 43"/>
          <p:cNvSpPr txBox="1"/>
          <p:nvPr/>
        </p:nvSpPr>
        <p:spPr>
          <a:xfrm>
            <a:off x="4152900" y="2834640"/>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Earliest decisive stage determines the verdict</a:t>
            </a:r>
          </a:p>
        </p:txBody>
      </p:sp>
      <p:sp>
        <p:nvSpPr>
          <p:cNvPr id="45" name="TextBox 44"/>
          <p:cNvSpPr txBox="1"/>
          <p:nvPr/>
        </p:nvSpPr>
        <p:spPr>
          <a:xfrm>
            <a:off x="4152900" y="3032760"/>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Reverse-order, self-tie + determinism checks</a:t>
            </a:r>
          </a:p>
        </p:txBody>
      </p:sp>
      <p:cxnSp>
        <p:nvCxnSpPr>
          <p:cNvPr id="46" name="Connector 45"/>
          <p:cNvCxnSpPr/>
          <p:nvPr/>
        </p:nvCxnSpPr>
        <p:spPr>
          <a:xfrm>
            <a:off x="5905500" y="3268980"/>
            <a:ext cx="0" cy="419100"/>
          </a:xfrm>
          <a:prstGeom prst="line">
            <a:avLst/>
          </a:prstGeom>
          <a:ln w="19050">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42660" y="3352800"/>
            <a:ext cx="6149340" cy="228600"/>
          </a:xfrm>
          <a:prstGeom prst="rect">
            <a:avLst/>
          </a:prstGeom>
          <a:noFill/>
        </p:spPr>
        <p:txBody>
          <a:bodyPr wrap="none" lIns="0" rIns="0" tIns="0" bIns="0">
            <a:spAutoFit/>
          </a:bodyPr>
          <a:lstStyle/>
          <a:p>
            <a:pPr>
              <a:spcBef>
                <a:spcPts val="0"/>
              </a:spcBef>
              <a:spcAft>
                <a:spcPts val="0"/>
              </a:spcAft>
              <a:defRPr sz="1200" b="1">
                <a:solidFill>
                  <a:srgbClr val="7752A6"/>
                </a:solidFill>
                <a:latin typeface="Arial"/>
              </a:defRPr>
            </a:pPr>
            <a:r>
              <a:t>Only if code ties</a:t>
            </a:r>
          </a:p>
        </p:txBody>
      </p:sp>
      <p:sp>
        <p:nvSpPr>
          <p:cNvPr id="48" name="Rounded Rectangle 47"/>
          <p:cNvSpPr/>
          <p:nvPr/>
        </p:nvSpPr>
        <p:spPr>
          <a:xfrm>
            <a:off x="4000500" y="3703320"/>
            <a:ext cx="3817620" cy="1082040"/>
          </a:xfrm>
          <a:prstGeom prst="roundRect">
            <a:avLst>
              <a:gd name="adj" fmla="val 8450"/>
            </a:avLst>
          </a:prstGeom>
          <a:solidFill>
            <a:srgbClr val="F5F0FA"/>
          </a:solidFill>
          <a:ln w="11430">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152900" y="3810000"/>
            <a:ext cx="8039099" cy="285750"/>
          </a:xfrm>
          <a:prstGeom prst="rect">
            <a:avLst/>
          </a:prstGeom>
          <a:noFill/>
        </p:spPr>
        <p:txBody>
          <a:bodyPr wrap="none" lIns="0" rIns="0" tIns="0" bIns="0">
            <a:spAutoFit/>
          </a:bodyPr>
          <a:lstStyle/>
          <a:p>
            <a:pPr>
              <a:spcBef>
                <a:spcPts val="0"/>
              </a:spcBef>
              <a:spcAft>
                <a:spcPts val="0"/>
              </a:spcAft>
              <a:defRPr sz="1500" b="1">
                <a:solidFill>
                  <a:srgbClr val="7752A6"/>
                </a:solidFill>
                <a:latin typeface="Arial"/>
              </a:defRPr>
            </a:pPr>
            <a:r>
              <a:t>Image-based tie resolution</a:t>
            </a:r>
          </a:p>
        </p:txBody>
      </p:sp>
      <p:sp>
        <p:nvSpPr>
          <p:cNvPr id="50" name="TextBox 49"/>
          <p:cNvSpPr txBox="1"/>
          <p:nvPr/>
        </p:nvSpPr>
        <p:spPr>
          <a:xfrm>
            <a:off x="4152900" y="4107179"/>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Requires relevant images on both sides</a:t>
            </a:r>
          </a:p>
        </p:txBody>
      </p:sp>
      <p:sp>
        <p:nvSpPr>
          <p:cNvPr id="51" name="TextBox 50"/>
          <p:cNvSpPr txBox="1"/>
          <p:nvPr/>
        </p:nvSpPr>
        <p:spPr>
          <a:xfrm>
            <a:off x="4152900" y="4343400"/>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Judge A/B and B/A; winners must agree</a:t>
            </a:r>
          </a:p>
        </p:txBody>
      </p:sp>
      <p:sp>
        <p:nvSpPr>
          <p:cNvPr id="52" name="TextBox 51"/>
          <p:cNvSpPr txBox="1"/>
          <p:nvPr/>
        </p:nvSpPr>
        <p:spPr>
          <a:xfrm>
            <a:off x="4152900" y="4541520"/>
            <a:ext cx="8039099"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Absent, unclear or inconsistent → keep tie</a:t>
            </a:r>
          </a:p>
        </p:txBody>
      </p:sp>
      <p:cxnSp>
        <p:nvCxnSpPr>
          <p:cNvPr id="53" name="Connector 52"/>
          <p:cNvCxnSpPr/>
          <p:nvPr/>
        </p:nvCxnSpPr>
        <p:spPr>
          <a:xfrm>
            <a:off x="5905500" y="4800600"/>
            <a:ext cx="0" cy="190500"/>
          </a:xfrm>
          <a:prstGeom prst="line">
            <a:avLst/>
          </a:prstGeom>
          <a:ln w="19050">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4442460" y="5044440"/>
            <a:ext cx="2918460" cy="259080"/>
          </a:xfrm>
          <a:prstGeom prst="roundRect">
            <a:avLst>
              <a:gd name="adj" fmla="val 17647"/>
            </a:avLst>
          </a:prstGeom>
          <a:solidFill>
            <a:srgbClr val="EFF5FC"/>
          </a:solidFill>
          <a:ln w="11430">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26280" y="5074920"/>
            <a:ext cx="7665720" cy="205740"/>
          </a:xfrm>
          <a:prstGeom prst="rect">
            <a:avLst/>
          </a:prstGeom>
          <a:noFill/>
        </p:spPr>
        <p:txBody>
          <a:bodyPr wrap="none" lIns="0" rIns="0" tIns="0" bIns="0">
            <a:spAutoFit/>
          </a:bodyPr>
          <a:lstStyle/>
          <a:p>
            <a:pPr>
              <a:spcBef>
                <a:spcPts val="0"/>
              </a:spcBef>
              <a:spcAft>
                <a:spcPts val="0"/>
              </a:spcAft>
              <a:defRPr sz="1080" b="1">
                <a:solidFill>
                  <a:srgbClr val="2463A5"/>
                </a:solidFill>
                <a:latin typeface="Arial"/>
              </a:defRPr>
            </a:pPr>
            <a:r>
              <a:t>A wins  /  B wins  /  tie + evidence</a:t>
            </a:r>
          </a:p>
        </p:txBody>
      </p:sp>
      <p:sp>
        <p:nvSpPr>
          <p:cNvPr id="56" name="Rounded Rectangle 55"/>
          <p:cNvSpPr/>
          <p:nvPr/>
        </p:nvSpPr>
        <p:spPr>
          <a:xfrm>
            <a:off x="8252460" y="1082040"/>
            <a:ext cx="3573780" cy="4495800"/>
          </a:xfrm>
          <a:prstGeom prst="roundRect">
            <a:avLst>
              <a:gd name="adj" fmla="val 3411"/>
            </a:avLst>
          </a:prstGeom>
          <a:solidFill>
            <a:srgbClr val="FFFFFF"/>
          </a:solidFill>
          <a:ln w="11430">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8359140" y="1196340"/>
            <a:ext cx="228600" cy="228600"/>
          </a:xfrm>
          <a:prstGeom prst="ellipse">
            <a:avLst/>
          </a:prstGeom>
          <a:solidFill>
            <a:srgbClr val="AF6425"/>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12480" y="1211580"/>
            <a:ext cx="3779520" cy="217170"/>
          </a:xfrm>
          <a:prstGeom prst="rect">
            <a:avLst/>
          </a:prstGeom>
          <a:noFill/>
        </p:spPr>
        <p:txBody>
          <a:bodyPr wrap="none" lIns="0" rIns="0" tIns="0" bIns="0">
            <a:spAutoFit/>
          </a:bodyPr>
          <a:lstStyle/>
          <a:p>
            <a:pPr>
              <a:spcBef>
                <a:spcPts val="0"/>
              </a:spcBef>
              <a:spcAft>
                <a:spcPts val="0"/>
              </a:spcAft>
              <a:defRPr sz="1140" b="1">
                <a:solidFill>
                  <a:srgbClr val="FFFFFF"/>
                </a:solidFill>
                <a:latin typeface="Arial"/>
              </a:defRPr>
            </a:pPr>
            <a:r>
              <a:t>C</a:t>
            </a:r>
          </a:p>
        </p:txBody>
      </p:sp>
      <p:sp>
        <p:nvSpPr>
          <p:cNvPr id="59" name="TextBox 58"/>
          <p:cNvSpPr txBox="1"/>
          <p:nvPr/>
        </p:nvSpPr>
        <p:spPr>
          <a:xfrm>
            <a:off x="8663940" y="1181100"/>
            <a:ext cx="3528060" cy="285750"/>
          </a:xfrm>
          <a:prstGeom prst="rect">
            <a:avLst/>
          </a:prstGeom>
          <a:noFill/>
        </p:spPr>
        <p:txBody>
          <a:bodyPr wrap="none" lIns="0" rIns="0" tIns="0" bIns="0">
            <a:spAutoFit/>
          </a:bodyPr>
          <a:lstStyle/>
          <a:p>
            <a:pPr>
              <a:spcBef>
                <a:spcPts val="0"/>
              </a:spcBef>
              <a:spcAft>
                <a:spcPts val="0"/>
              </a:spcAft>
              <a:defRPr sz="1500" b="1">
                <a:solidFill>
                  <a:srgbClr val="182C40"/>
                </a:solidFill>
                <a:latin typeface="Arial"/>
              </a:defRPr>
            </a:pPr>
            <a:r>
              <a:t>Rate and guide evolution</a:t>
            </a:r>
          </a:p>
        </p:txBody>
      </p:sp>
      <p:cxnSp>
        <p:nvCxnSpPr>
          <p:cNvPr id="60" name="Connector 59"/>
          <p:cNvCxnSpPr/>
          <p:nvPr/>
        </p:nvCxnSpPr>
        <p:spPr>
          <a:xfrm>
            <a:off x="8915400" y="1790700"/>
            <a:ext cx="838200" cy="0"/>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15400" y="1790700"/>
            <a:ext cx="419100" cy="647700"/>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9334500" y="1790700"/>
            <a:ext cx="419100" cy="647700"/>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8732520" y="160782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08720" y="1684020"/>
            <a:ext cx="338328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G₁</a:t>
            </a:r>
          </a:p>
        </p:txBody>
      </p:sp>
      <p:sp>
        <p:nvSpPr>
          <p:cNvPr id="65" name="Oval 64"/>
          <p:cNvSpPr/>
          <p:nvPr/>
        </p:nvSpPr>
        <p:spPr>
          <a:xfrm>
            <a:off x="9570720" y="160782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646920" y="1684020"/>
            <a:ext cx="254508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G₂</a:t>
            </a:r>
          </a:p>
        </p:txBody>
      </p:sp>
      <p:sp>
        <p:nvSpPr>
          <p:cNvPr id="67" name="Oval 66"/>
          <p:cNvSpPr/>
          <p:nvPr/>
        </p:nvSpPr>
        <p:spPr>
          <a:xfrm>
            <a:off x="9151620" y="225552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27820" y="2331720"/>
            <a:ext cx="296418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G₃</a:t>
            </a:r>
          </a:p>
        </p:txBody>
      </p:sp>
      <p:sp>
        <p:nvSpPr>
          <p:cNvPr id="69" name="TextBox 68"/>
          <p:cNvSpPr txBox="1"/>
          <p:nvPr/>
        </p:nvSpPr>
        <p:spPr>
          <a:xfrm>
            <a:off x="10058400" y="1600200"/>
            <a:ext cx="2133600" cy="240030"/>
          </a:xfrm>
          <a:prstGeom prst="rect">
            <a:avLst/>
          </a:prstGeom>
          <a:noFill/>
        </p:spPr>
        <p:txBody>
          <a:bodyPr wrap="none" lIns="0" rIns="0" tIns="0" bIns="0">
            <a:spAutoFit/>
          </a:bodyPr>
          <a:lstStyle/>
          <a:p>
            <a:pPr>
              <a:spcBef>
                <a:spcPts val="0"/>
              </a:spcBef>
              <a:spcAft>
                <a:spcPts val="0"/>
              </a:spcAft>
              <a:defRPr sz="1260" b="0">
                <a:solidFill>
                  <a:srgbClr val="526779"/>
                </a:solidFill>
                <a:latin typeface="Arial"/>
              </a:defRPr>
            </a:pPr>
            <a:r>
              <a:t>All pairs</a:t>
            </a:r>
          </a:p>
        </p:txBody>
      </p:sp>
      <p:sp>
        <p:nvSpPr>
          <p:cNvPr id="70" name="TextBox 69"/>
          <p:cNvSpPr txBox="1"/>
          <p:nvPr/>
        </p:nvSpPr>
        <p:spPr>
          <a:xfrm>
            <a:off x="10058400" y="1836420"/>
            <a:ext cx="2133600" cy="240030"/>
          </a:xfrm>
          <a:prstGeom prst="rect">
            <a:avLst/>
          </a:prstGeom>
          <a:noFill/>
        </p:spPr>
        <p:txBody>
          <a:bodyPr wrap="none" lIns="0" rIns="0" tIns="0" bIns="0">
            <a:spAutoFit/>
          </a:bodyPr>
          <a:lstStyle/>
          <a:p>
            <a:pPr>
              <a:spcBef>
                <a:spcPts val="0"/>
              </a:spcBef>
              <a:spcAft>
                <a:spcPts val="0"/>
              </a:spcAft>
              <a:defRPr sz="1260" b="0">
                <a:solidFill>
                  <a:srgbClr val="526779"/>
                </a:solidFill>
                <a:latin typeface="Arial"/>
              </a:defRPr>
            </a:pPr>
            <a:r>
              <a:t>in the task</a:t>
            </a:r>
          </a:p>
        </p:txBody>
      </p:sp>
      <p:sp>
        <p:nvSpPr>
          <p:cNvPr id="71" name="TextBox 70"/>
          <p:cNvSpPr txBox="1"/>
          <p:nvPr/>
        </p:nvSpPr>
        <p:spPr>
          <a:xfrm>
            <a:off x="10058400" y="2072640"/>
            <a:ext cx="2133600" cy="240030"/>
          </a:xfrm>
          <a:prstGeom prst="rect">
            <a:avLst/>
          </a:prstGeom>
          <a:noFill/>
        </p:spPr>
        <p:txBody>
          <a:bodyPr wrap="none" lIns="0" rIns="0" tIns="0" bIns="0">
            <a:spAutoFit/>
          </a:bodyPr>
          <a:lstStyle/>
          <a:p>
            <a:pPr>
              <a:spcBef>
                <a:spcPts val="0"/>
              </a:spcBef>
              <a:spcAft>
                <a:spcPts val="0"/>
              </a:spcAft>
              <a:defRPr sz="1260" b="0">
                <a:solidFill>
                  <a:srgbClr val="526779"/>
                </a:solidFill>
                <a:latin typeface="Arial"/>
              </a:defRPr>
            </a:pPr>
            <a:r>
              <a:t>session</a:t>
            </a:r>
          </a:p>
        </p:txBody>
      </p:sp>
      <p:cxnSp>
        <p:nvCxnSpPr>
          <p:cNvPr id="72" name="Connector 71"/>
          <p:cNvCxnSpPr/>
          <p:nvPr/>
        </p:nvCxnSpPr>
        <p:spPr>
          <a:xfrm>
            <a:off x="9448800" y="2651760"/>
            <a:ext cx="0" cy="175260"/>
          </a:xfrm>
          <a:prstGeom prst="line">
            <a:avLst/>
          </a:prstGeom>
          <a:ln w="19050">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73" name="Rounded Rectangle 72"/>
          <p:cNvSpPr/>
          <p:nvPr/>
        </p:nvSpPr>
        <p:spPr>
          <a:xfrm>
            <a:off x="8450580" y="2857500"/>
            <a:ext cx="3177540" cy="1043940"/>
          </a:xfrm>
          <a:prstGeom prst="roundRect">
            <a:avLst>
              <a:gd name="adj" fmla="val 8759"/>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02980" y="2964180"/>
            <a:ext cx="3589020" cy="285750"/>
          </a:xfrm>
          <a:prstGeom prst="rect">
            <a:avLst/>
          </a:prstGeom>
          <a:noFill/>
        </p:spPr>
        <p:txBody>
          <a:bodyPr wrap="none" lIns="0" rIns="0" tIns="0" bIns="0">
            <a:spAutoFit/>
          </a:bodyPr>
          <a:lstStyle/>
          <a:p>
            <a:pPr>
              <a:spcBef>
                <a:spcPts val="0"/>
              </a:spcBef>
              <a:spcAft>
                <a:spcPts val="0"/>
              </a:spcAft>
              <a:defRPr sz="1500" b="1">
                <a:solidFill>
                  <a:srgbClr val="AF6425"/>
                </a:solidFill>
                <a:latin typeface="Arial"/>
              </a:defRPr>
            </a:pPr>
            <a:r>
              <a:t>Regularized Bradley–Terry fit</a:t>
            </a:r>
          </a:p>
        </p:txBody>
      </p:sp>
      <p:sp>
        <p:nvSpPr>
          <p:cNvPr id="75" name="TextBox 74"/>
          <p:cNvSpPr txBox="1"/>
          <p:nvPr/>
        </p:nvSpPr>
        <p:spPr>
          <a:xfrm>
            <a:off x="8602980" y="326136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Pair outcomes → latent strengths θ</a:t>
            </a:r>
          </a:p>
        </p:txBody>
      </p:sp>
      <p:sp>
        <p:nvSpPr>
          <p:cNvPr id="76" name="TextBox 75"/>
          <p:cNvSpPr txBox="1"/>
          <p:nvPr/>
        </p:nvSpPr>
        <p:spPr>
          <a:xfrm>
            <a:off x="8602980" y="349758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P(i beats j) = σ(θᵢ − θⱼ)</a:t>
            </a:r>
          </a:p>
        </p:txBody>
      </p:sp>
      <p:sp>
        <p:nvSpPr>
          <p:cNvPr id="77" name="TextBox 76"/>
          <p:cNvSpPr txBox="1"/>
          <p:nvPr/>
        </p:nvSpPr>
        <p:spPr>
          <a:xfrm>
            <a:off x="8602980" y="368808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Current reward: rᵢ = σ(θᵢ) if eligible</a:t>
            </a:r>
          </a:p>
        </p:txBody>
      </p:sp>
      <p:sp>
        <p:nvSpPr>
          <p:cNvPr id="78" name="TextBox 77"/>
          <p:cNvSpPr txBox="1"/>
          <p:nvPr/>
        </p:nvSpPr>
        <p:spPr>
          <a:xfrm>
            <a:off x="8602980" y="403098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Refit every generation’s current reward</a:t>
            </a:r>
          </a:p>
        </p:txBody>
      </p:sp>
      <p:sp>
        <p:nvSpPr>
          <p:cNvPr id="79" name="TextBox 78"/>
          <p:cNvSpPr txBox="1"/>
          <p:nvPr/>
        </p:nvSpPr>
        <p:spPr>
          <a:xfrm>
            <a:off x="8602980" y="426720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after each new evaluation.</a:t>
            </a:r>
          </a:p>
        </p:txBody>
      </p:sp>
      <p:sp>
        <p:nvSpPr>
          <p:cNvPr id="80" name="Rounded Rectangle 79"/>
          <p:cNvSpPr/>
          <p:nvPr/>
        </p:nvSpPr>
        <p:spPr>
          <a:xfrm>
            <a:off x="8450580" y="4701540"/>
            <a:ext cx="3177540" cy="655320"/>
          </a:xfrm>
          <a:prstGeom prst="roundRect">
            <a:avLst>
              <a:gd name="adj" fmla="val 13953"/>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602980" y="4808220"/>
            <a:ext cx="3589020" cy="285750"/>
          </a:xfrm>
          <a:prstGeom prst="rect">
            <a:avLst/>
          </a:prstGeom>
          <a:noFill/>
        </p:spPr>
        <p:txBody>
          <a:bodyPr wrap="none" lIns="0" rIns="0" tIns="0" bIns="0">
            <a:spAutoFit/>
          </a:bodyPr>
          <a:lstStyle/>
          <a:p>
            <a:pPr>
              <a:spcBef>
                <a:spcPts val="0"/>
              </a:spcBef>
              <a:spcAft>
                <a:spcPts val="0"/>
              </a:spcAft>
              <a:defRPr sz="1500" b="1">
                <a:solidFill>
                  <a:srgbClr val="087F82"/>
                </a:solidFill>
                <a:latin typeface="Arial"/>
              </a:defRPr>
            </a:pPr>
            <a:r>
              <a:t>Evidence-grounded feedback</a:t>
            </a:r>
          </a:p>
        </p:txBody>
      </p:sp>
      <p:sp>
        <p:nvSpPr>
          <p:cNvPr id="82" name="TextBox 81"/>
          <p:cNvSpPr txBox="1"/>
          <p:nvPr/>
        </p:nvSpPr>
        <p:spPr>
          <a:xfrm>
            <a:off x="8602980" y="5105400"/>
            <a:ext cx="35890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Earliest losses first; no scores or code</a:t>
            </a:r>
          </a:p>
        </p:txBody>
      </p:sp>
      <p:cxnSp>
        <p:nvCxnSpPr>
          <p:cNvPr id="83" name="Connector 82"/>
          <p:cNvCxnSpPr/>
          <p:nvPr/>
        </p:nvCxnSpPr>
        <p:spPr>
          <a:xfrm>
            <a:off x="10043160" y="5585460"/>
            <a:ext cx="0" cy="403860"/>
          </a:xfrm>
          <a:prstGeom prst="line">
            <a:avLst/>
          </a:prstGeom>
          <a:ln w="19050">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965960" y="5989320"/>
            <a:ext cx="8077200" cy="0"/>
          </a:xfrm>
          <a:prstGeom prst="line">
            <a:avLst/>
          </a:prstGeom>
          <a:ln w="19050">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965960" y="5585460"/>
            <a:ext cx="0" cy="403860"/>
          </a:xfrm>
          <a:prstGeom prst="line">
            <a:avLst/>
          </a:prstGeom>
          <a:ln w="19050">
            <a:solidFill>
              <a:srgbClr val="087F8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6" name="Rectangle 85"/>
          <p:cNvSpPr/>
          <p:nvPr/>
        </p:nvSpPr>
        <p:spPr>
          <a:xfrm>
            <a:off x="4061460" y="5829300"/>
            <a:ext cx="3863339" cy="327660"/>
          </a:xfrm>
          <a:prstGeom prst="rect">
            <a:avLst/>
          </a:prstGeom>
          <a:solidFill>
            <a:srgbClr val="FFFFFF"/>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175760" y="5867400"/>
            <a:ext cx="8016240" cy="262890"/>
          </a:xfrm>
          <a:prstGeom prst="rect">
            <a:avLst/>
          </a:prstGeom>
          <a:noFill/>
        </p:spPr>
        <p:txBody>
          <a:bodyPr wrap="none" lIns="0" rIns="0" tIns="0" bIns="0">
            <a:spAutoFit/>
          </a:bodyPr>
          <a:lstStyle/>
          <a:p>
            <a:pPr>
              <a:spcBef>
                <a:spcPts val="0"/>
              </a:spcBef>
              <a:spcAft>
                <a:spcPts val="0"/>
              </a:spcAft>
              <a:defRPr sz="1380" b="1">
                <a:solidFill>
                  <a:srgbClr val="087F82"/>
                </a:solidFill>
                <a:latin typeface="Arial"/>
              </a:defRPr>
            </a:pPr>
            <a:r>
              <a:t>Selection + mutation → next generation</a:t>
            </a:r>
          </a:p>
        </p:txBody>
      </p:sp>
      <p:sp>
        <p:nvSpPr>
          <p:cNvPr id="88" name="TextBox 87"/>
          <p:cNvSpPr txBox="1"/>
          <p:nvPr/>
        </p:nvSpPr>
        <p:spPr>
          <a:xfrm>
            <a:off x="365760" y="6393180"/>
            <a:ext cx="11826240" cy="217170"/>
          </a:xfrm>
          <a:prstGeom prst="rect">
            <a:avLst/>
          </a:prstGeom>
          <a:noFill/>
        </p:spPr>
        <p:txBody>
          <a:bodyPr wrap="none" lIns="0" rIns="0" tIns="0" bIns="0">
            <a:spAutoFit/>
          </a:bodyPr>
          <a:lstStyle/>
          <a:p>
            <a:pPr>
              <a:spcBef>
                <a:spcPts val="0"/>
              </a:spcBef>
              <a:spcAft>
                <a:spcPts val="0"/>
              </a:spcAft>
              <a:defRPr sz="1140" b="0">
                <a:solidFill>
                  <a:srgbClr val="526779"/>
                </a:solidFill>
                <a:latin typeface="Arial"/>
              </a:defRPr>
            </a:pPr>
            <a:r>
              <a:t>Evolutionary pressure, not a benchmark grade.  σ = logistic function.  Admission verdicts also enter the tournament.</a:t>
            </a:r>
          </a:p>
        </p:txBody>
      </p:sp>
      <p:cxnSp>
        <p:nvCxnSpPr>
          <p:cNvPr id="89" name="Connector 88"/>
          <p:cNvCxnSpPr/>
          <p:nvPr/>
        </p:nvCxnSpPr>
        <p:spPr>
          <a:xfrm>
            <a:off x="7818120" y="2682240"/>
            <a:ext cx="91440" cy="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09560" y="2682240"/>
            <a:ext cx="0" cy="224028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7353299" y="4922520"/>
            <a:ext cx="556261" cy="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7353299" y="4922520"/>
            <a:ext cx="0" cy="121920"/>
          </a:xfrm>
          <a:prstGeom prst="line">
            <a:avLst/>
          </a:prstGeom>
          <a:ln w="19050">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316980" y="4853940"/>
            <a:ext cx="5875020" cy="182880"/>
          </a:xfrm>
          <a:prstGeom prst="rect">
            <a:avLst/>
          </a:prstGeom>
          <a:noFill/>
        </p:spPr>
        <p:txBody>
          <a:bodyPr wrap="none" lIns="0" rIns="0" tIns="0" bIns="0">
            <a:spAutoFit/>
          </a:bodyPr>
          <a:lstStyle/>
          <a:p>
            <a:pPr>
              <a:spcBef>
                <a:spcPts val="0"/>
              </a:spcBef>
              <a:spcAft>
                <a:spcPts val="0"/>
              </a:spcAft>
              <a:defRPr sz="960" b="1">
                <a:solidFill>
                  <a:srgbClr val="2463A5"/>
                </a:solidFill>
                <a:latin typeface="Arial"/>
              </a:defRPr>
            </a:pPr>
            <a:r>
              <a:t>Code decides</a:t>
            </a:r>
          </a:p>
        </p:txBody>
      </p:sp>
      <p:cxnSp>
        <p:nvCxnSpPr>
          <p:cNvPr id="94" name="Connector 93"/>
          <p:cNvCxnSpPr/>
          <p:nvPr/>
        </p:nvCxnSpPr>
        <p:spPr>
          <a:xfrm>
            <a:off x="7360920" y="5173980"/>
            <a:ext cx="777240" cy="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8138160" y="1790700"/>
            <a:ext cx="0" cy="3383280"/>
          </a:xfrm>
          <a:prstGeom prst="line">
            <a:avLst/>
          </a:prstGeom>
          <a:ln w="19050">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138160" y="1790700"/>
            <a:ext cx="594360" cy="0"/>
          </a:xfrm>
          <a:prstGeom prst="line">
            <a:avLst/>
          </a:prstGeom>
          <a:ln w="19050">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138160" y="5173980"/>
            <a:ext cx="312420" cy="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3215640" y="3528060"/>
            <a:ext cx="0" cy="62484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2903220" y="3947160"/>
            <a:ext cx="9288780" cy="182880"/>
          </a:xfrm>
          <a:prstGeom prst="rect">
            <a:avLst/>
          </a:prstGeom>
          <a:noFill/>
        </p:spPr>
        <p:txBody>
          <a:bodyPr wrap="none" lIns="0" rIns="0" tIns="0" bIns="0">
            <a:spAutoFit/>
          </a:bodyPr>
          <a:lstStyle/>
          <a:p>
            <a:pPr>
              <a:spcBef>
                <a:spcPts val="0"/>
              </a:spcBef>
              <a:spcAft>
                <a:spcPts val="0"/>
              </a:spcAft>
              <a:defRPr sz="960" b="0">
                <a:solidFill>
                  <a:srgbClr val="087F82"/>
                </a:solidFill>
                <a:latin typeface="Arial"/>
              </a:defRPr>
            </a:pPr>
            <a:r>
              <a:t>pass</a:t>
            </a:r>
          </a:p>
        </p:txBody>
      </p:sp>
      <p:cxnSp>
        <p:nvCxnSpPr>
          <p:cNvPr id="100" name="Connector 99"/>
          <p:cNvCxnSpPr/>
          <p:nvPr/>
        </p:nvCxnSpPr>
        <p:spPr>
          <a:xfrm>
            <a:off x="3368040" y="4686300"/>
            <a:ext cx="297180" cy="0"/>
          </a:xfrm>
          <a:prstGeom prst="line">
            <a:avLst/>
          </a:prstGeom>
          <a:ln w="1905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665220" y="1684020"/>
            <a:ext cx="0" cy="3002280"/>
          </a:xfrm>
          <a:prstGeom prst="line">
            <a:avLst/>
          </a:prstGeom>
          <a:ln w="1905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3665220" y="1684020"/>
            <a:ext cx="335280" cy="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1628120" y="3429000"/>
            <a:ext cx="320040" cy="0"/>
          </a:xfrm>
          <a:prstGeom prst="line">
            <a:avLst/>
          </a:prstGeom>
          <a:ln w="19050">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1948160" y="3429000"/>
            <a:ext cx="0" cy="2560320"/>
          </a:xfrm>
          <a:prstGeom prst="line">
            <a:avLst/>
          </a:prstGeom>
          <a:ln w="19050">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0043160" y="5989320"/>
            <a:ext cx="1905000" cy="0"/>
          </a:xfrm>
          <a:prstGeom prst="line">
            <a:avLst/>
          </a:prstGeom>
          <a:ln w="19050">
            <a:solidFill>
              <a:srgbClr val="AF642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665220" y="1432560"/>
            <a:ext cx="0" cy="251460"/>
          </a:xfrm>
          <a:prstGeom prst="line">
            <a:avLst/>
          </a:prstGeom>
          <a:ln w="1905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665220" y="1432560"/>
            <a:ext cx="3329940" cy="0"/>
          </a:xfrm>
          <a:prstGeom prst="line">
            <a:avLst/>
          </a:prstGeom>
          <a:ln w="1905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995160" y="1432560"/>
            <a:ext cx="0" cy="12192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84365" y="189411"/>
            <a:ext cx="10136777" cy="372291"/>
          </a:xfrm>
          <a:prstGeom prst="rect">
            <a:avLst/>
          </a:prstGeom>
          <a:noFill/>
        </p:spPr>
        <p:txBody>
          <a:bodyPr wrap="none" lIns="0" rIns="0" tIns="0" bIns="0">
            <a:spAutoFit/>
          </a:bodyPr>
          <a:lstStyle/>
          <a:p>
            <a:pPr>
              <a:spcBef>
                <a:spcPts val="0"/>
              </a:spcBef>
              <a:spcAft>
                <a:spcPts val="0"/>
              </a:spcAft>
              <a:defRPr sz="1954" b="1">
                <a:solidFill>
                  <a:srgbClr val="182C40"/>
                </a:solidFill>
                <a:latin typeface="Arial"/>
              </a:defRPr>
            </a:pPr>
            <a:r>
              <a:t>Policy-BT: comparison contract and tournament mathematics</a:t>
            </a:r>
          </a:p>
        </p:txBody>
      </p:sp>
      <p:sp>
        <p:nvSpPr>
          <p:cNvPr id="3" name="TextBox 2"/>
          <p:cNvSpPr txBox="1"/>
          <p:nvPr/>
        </p:nvSpPr>
        <p:spPr>
          <a:xfrm>
            <a:off x="1184365" y="542108"/>
            <a:ext cx="10136777"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Implementation-level view • task criteria remain fixed while artifact-schema adapters can expand.</a:t>
            </a:r>
          </a:p>
        </p:txBody>
      </p:sp>
      <p:sp>
        <p:nvSpPr>
          <p:cNvPr id="4" name="Rounded Rectangle 3"/>
          <p:cNvSpPr/>
          <p:nvPr/>
        </p:nvSpPr>
        <p:spPr>
          <a:xfrm>
            <a:off x="1184365" y="914400"/>
            <a:ext cx="3030582" cy="4265022"/>
          </a:xfrm>
          <a:prstGeom prst="roundRect">
            <a:avLst>
              <a:gd name="adj" fmla="val 3448"/>
            </a:avLst>
          </a:prstGeom>
          <a:solidFill>
            <a:srgbClr val="FFFFFF"/>
          </a:solidFill>
          <a:ln w="979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75805" y="1012371"/>
            <a:ext cx="195942" cy="195942"/>
          </a:xfrm>
          <a:prstGeom prst="ellipse">
            <a:avLst/>
          </a:prstGeom>
          <a:solidFill>
            <a:srgbClr val="087F82"/>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1525" y="1025434"/>
            <a:ext cx="9999617" cy="186145"/>
          </a:xfrm>
          <a:prstGeom prst="rect">
            <a:avLst/>
          </a:prstGeom>
          <a:noFill/>
        </p:spPr>
        <p:txBody>
          <a:bodyPr wrap="none" lIns="0" rIns="0" tIns="0" bIns="0">
            <a:spAutoFit/>
          </a:bodyPr>
          <a:lstStyle/>
          <a:p>
            <a:pPr>
              <a:spcBef>
                <a:spcPts val="0"/>
              </a:spcBef>
              <a:spcAft>
                <a:spcPts val="0"/>
              </a:spcAft>
              <a:defRPr sz="977" b="1">
                <a:solidFill>
                  <a:srgbClr val="FFFFFF"/>
                </a:solidFill>
                <a:latin typeface="Arial"/>
              </a:defRPr>
            </a:pPr>
            <a:r>
              <a:t>A</a:t>
            </a:r>
          </a:p>
        </p:txBody>
      </p:sp>
      <p:sp>
        <p:nvSpPr>
          <p:cNvPr id="7" name="TextBox 6"/>
          <p:cNvSpPr txBox="1"/>
          <p:nvPr/>
        </p:nvSpPr>
        <p:spPr>
          <a:xfrm>
            <a:off x="1537062" y="999308"/>
            <a:ext cx="9784080" cy="244928"/>
          </a:xfrm>
          <a:prstGeom prst="rect">
            <a:avLst/>
          </a:prstGeom>
          <a:noFill/>
        </p:spPr>
        <p:txBody>
          <a:bodyPr wrap="none" lIns="0" rIns="0" tIns="0" bIns="0">
            <a:spAutoFit/>
          </a:bodyPr>
          <a:lstStyle/>
          <a:p>
            <a:pPr>
              <a:spcBef>
                <a:spcPts val="0"/>
              </a:spcBef>
              <a:spcAft>
                <a:spcPts val="0"/>
              </a:spcAft>
              <a:defRPr sz="1285" b="1">
                <a:solidFill>
                  <a:srgbClr val="182C40"/>
                </a:solidFill>
                <a:latin typeface="Arial"/>
              </a:defRPr>
            </a:pPr>
            <a:r>
              <a:t>Evidence and task contract</a:t>
            </a:r>
          </a:p>
        </p:txBody>
      </p:sp>
      <p:sp>
        <p:nvSpPr>
          <p:cNvPr id="8" name="Rounded Rectangle 7"/>
          <p:cNvSpPr/>
          <p:nvPr/>
        </p:nvSpPr>
        <p:spPr>
          <a:xfrm>
            <a:off x="1341120" y="1312817"/>
            <a:ext cx="2717074" cy="738051"/>
          </a:xfrm>
          <a:prstGeom prst="roundRect">
            <a:avLst>
              <a:gd name="adj" fmla="val 10619"/>
            </a:avLst>
          </a:prstGeom>
          <a:solidFill>
            <a:srgbClr val="EDF8F6"/>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71748" y="1404257"/>
            <a:ext cx="9849394" cy="244928"/>
          </a:xfrm>
          <a:prstGeom prst="rect">
            <a:avLst/>
          </a:prstGeom>
          <a:noFill/>
        </p:spPr>
        <p:txBody>
          <a:bodyPr wrap="none" lIns="0" rIns="0" tIns="0" bIns="0">
            <a:spAutoFit/>
          </a:bodyPr>
          <a:lstStyle/>
          <a:p>
            <a:pPr>
              <a:spcBef>
                <a:spcPts val="0"/>
              </a:spcBef>
              <a:spcAft>
                <a:spcPts val="0"/>
              </a:spcAft>
              <a:defRPr sz="1285" b="1">
                <a:solidFill>
                  <a:srgbClr val="087F82"/>
                </a:solidFill>
                <a:latin typeface="Arial"/>
              </a:defRPr>
            </a:pPr>
            <a:r>
              <a:t>Owned workspace snapshot</a:t>
            </a:r>
          </a:p>
        </p:txBody>
      </p:sp>
      <p:sp>
        <p:nvSpPr>
          <p:cNvPr id="10" name="TextBox 9"/>
          <p:cNvSpPr txBox="1"/>
          <p:nvPr/>
        </p:nvSpPr>
        <p:spPr>
          <a:xfrm>
            <a:off x="1471748" y="1658982"/>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Original artifacts remain untouched</a:t>
            </a:r>
          </a:p>
        </p:txBody>
      </p:sp>
      <p:sp>
        <p:nvSpPr>
          <p:cNvPr id="11" name="TextBox 10"/>
          <p:cNvSpPr txBox="1"/>
          <p:nvPr/>
        </p:nvSpPr>
        <p:spPr>
          <a:xfrm>
            <a:off x="1471748" y="1861457"/>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Required .sh reproduction contract</a:t>
            </a:r>
          </a:p>
        </p:txBody>
      </p:sp>
      <p:cxnSp>
        <p:nvCxnSpPr>
          <p:cNvPr id="12" name="Connector 11"/>
          <p:cNvCxnSpPr/>
          <p:nvPr/>
        </p:nvCxnSpPr>
        <p:spPr>
          <a:xfrm>
            <a:off x="2699657" y="2057400"/>
            <a:ext cx="0" cy="143691"/>
          </a:xfrm>
          <a:prstGeom prst="line">
            <a:avLst/>
          </a:prstGeom>
          <a:ln w="16328">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341120" y="2220685"/>
            <a:ext cx="2717074" cy="724988"/>
          </a:xfrm>
          <a:prstGeom prst="roundRect">
            <a:avLst>
              <a:gd name="adj" fmla="val 10810"/>
            </a:avLst>
          </a:prstGeom>
          <a:solidFill>
            <a:srgbClr val="EDF8F6"/>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71748" y="2312125"/>
            <a:ext cx="9849394" cy="244928"/>
          </a:xfrm>
          <a:prstGeom prst="rect">
            <a:avLst/>
          </a:prstGeom>
          <a:noFill/>
        </p:spPr>
        <p:txBody>
          <a:bodyPr wrap="none" lIns="0" rIns="0" tIns="0" bIns="0">
            <a:spAutoFit/>
          </a:bodyPr>
          <a:lstStyle/>
          <a:p>
            <a:pPr>
              <a:spcBef>
                <a:spcPts val="0"/>
              </a:spcBef>
              <a:spcAft>
                <a:spcPts val="0"/>
              </a:spcAft>
              <a:defRPr sz="1285" b="1">
                <a:solidFill>
                  <a:srgbClr val="087F82"/>
                </a:solidFill>
                <a:latin typeface="Arial"/>
              </a:defRPr>
            </a:pPr>
            <a:r>
              <a:t>Re-execution gate</a:t>
            </a:r>
          </a:p>
        </p:txBody>
      </p:sp>
      <p:sp>
        <p:nvSpPr>
          <p:cNvPr id="15" name="TextBox 14"/>
          <p:cNvSpPr txBox="1"/>
          <p:nvPr/>
        </p:nvSpPr>
        <p:spPr>
          <a:xfrm>
            <a:off x="1471748" y="2566851"/>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Clean venv; move old outputs aside</a:t>
            </a:r>
          </a:p>
        </p:txBody>
      </p:sp>
      <p:sp>
        <p:nvSpPr>
          <p:cNvPr id="16" name="TextBox 15"/>
          <p:cNvSpPr txBox="1"/>
          <p:nvPr/>
        </p:nvSpPr>
        <p:spPr>
          <a:xfrm>
            <a:off x="1471748" y="2723605"/>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Rerun optional; contract required</a:t>
            </a:r>
          </a:p>
        </p:txBody>
      </p:sp>
      <p:sp>
        <p:nvSpPr>
          <p:cNvPr id="17" name="Rounded Rectangle 16"/>
          <p:cNvSpPr/>
          <p:nvPr/>
        </p:nvSpPr>
        <p:spPr>
          <a:xfrm>
            <a:off x="1341120" y="3050177"/>
            <a:ext cx="2442754" cy="222068"/>
          </a:xfrm>
          <a:prstGeom prst="roundRect">
            <a:avLst>
              <a:gd name="adj" fmla="val 17647"/>
            </a:avLst>
          </a:prstGeom>
          <a:solidFill>
            <a:srgbClr val="FCEFED"/>
          </a:solidFill>
          <a:ln w="9797">
            <a:solidFill>
              <a:srgbClr val="A84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2965" y="3076302"/>
            <a:ext cx="9908177" cy="166551"/>
          </a:xfrm>
          <a:prstGeom prst="rect">
            <a:avLst/>
          </a:prstGeom>
          <a:noFill/>
        </p:spPr>
        <p:txBody>
          <a:bodyPr wrap="none" lIns="0" rIns="0" tIns="0" bIns="0">
            <a:spAutoFit/>
          </a:bodyPr>
          <a:lstStyle/>
          <a:p>
            <a:pPr>
              <a:spcBef>
                <a:spcPts val="0"/>
              </a:spcBef>
              <a:spcAft>
                <a:spcPts val="0"/>
              </a:spcAft>
              <a:defRPr sz="874" b="1">
                <a:solidFill>
                  <a:srgbClr val="A84943"/>
                </a:solidFill>
                <a:latin typeface="Arial"/>
              </a:defRPr>
            </a:pPr>
            <a:r>
              <a:t>Fail → admission verdict; reward 0</a:t>
            </a:r>
          </a:p>
        </p:txBody>
      </p:sp>
      <p:sp>
        <p:nvSpPr>
          <p:cNvPr id="19" name="Rounded Rectangle 18"/>
          <p:cNvSpPr/>
          <p:nvPr/>
        </p:nvSpPr>
        <p:spPr>
          <a:xfrm>
            <a:off x="1341120" y="3448594"/>
            <a:ext cx="2717074" cy="764177"/>
          </a:xfrm>
          <a:prstGeom prst="roundRect">
            <a:avLst>
              <a:gd name="adj" fmla="val 10256"/>
            </a:avLst>
          </a:prstGeom>
          <a:solidFill>
            <a:srgbClr val="EDF8F6"/>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71748" y="3540034"/>
            <a:ext cx="9849394" cy="244928"/>
          </a:xfrm>
          <a:prstGeom prst="rect">
            <a:avLst/>
          </a:prstGeom>
          <a:noFill/>
        </p:spPr>
        <p:txBody>
          <a:bodyPr wrap="none" lIns="0" rIns="0" tIns="0" bIns="0">
            <a:spAutoFit/>
          </a:bodyPr>
          <a:lstStyle/>
          <a:p>
            <a:pPr>
              <a:spcBef>
                <a:spcPts val="0"/>
              </a:spcBef>
              <a:spcAft>
                <a:spcPts val="0"/>
              </a:spcAft>
              <a:defRPr sz="1285" b="1">
                <a:solidFill>
                  <a:srgbClr val="087F82"/>
                </a:solidFill>
                <a:latin typeface="Arial"/>
              </a:defRPr>
            </a:pPr>
            <a:r>
              <a:t>LLM reconnaissance</a:t>
            </a:r>
          </a:p>
        </p:txBody>
      </p:sp>
      <p:sp>
        <p:nvSpPr>
          <p:cNvPr id="21" name="TextBox 20"/>
          <p:cNvSpPr txBox="1"/>
          <p:nvPr/>
        </p:nvSpPr>
        <p:spPr>
          <a:xfrm>
            <a:off x="1471748" y="3794760"/>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Goal + inventory + inspected previews</a:t>
            </a:r>
          </a:p>
        </p:txBody>
      </p:sp>
      <p:sp>
        <p:nvSpPr>
          <p:cNvPr id="22" name="TextBox 21"/>
          <p:cNvSpPr txBox="1"/>
          <p:nvPr/>
        </p:nvSpPr>
        <p:spPr>
          <a:xfrm>
            <a:off x="1471748" y="3997234"/>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Fix criteria, stage order and value types</a:t>
            </a:r>
          </a:p>
        </p:txBody>
      </p:sp>
      <p:cxnSp>
        <p:nvCxnSpPr>
          <p:cNvPr id="23" name="Connector 22"/>
          <p:cNvCxnSpPr/>
          <p:nvPr/>
        </p:nvCxnSpPr>
        <p:spPr>
          <a:xfrm>
            <a:off x="2699657" y="4219302"/>
            <a:ext cx="0" cy="137160"/>
          </a:xfrm>
          <a:prstGeom prst="line">
            <a:avLst/>
          </a:prstGeom>
          <a:ln w="16328">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341120" y="4376057"/>
            <a:ext cx="2717074" cy="633548"/>
          </a:xfrm>
          <a:prstGeom prst="roundRect">
            <a:avLst>
              <a:gd name="adj" fmla="val 12371"/>
            </a:avLst>
          </a:prstGeom>
          <a:solidFill>
            <a:srgbClr val="EDF8F6"/>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71748" y="4467497"/>
            <a:ext cx="9849394" cy="244928"/>
          </a:xfrm>
          <a:prstGeom prst="rect">
            <a:avLst/>
          </a:prstGeom>
          <a:noFill/>
        </p:spPr>
        <p:txBody>
          <a:bodyPr wrap="none" lIns="0" rIns="0" tIns="0" bIns="0">
            <a:spAutoFit/>
          </a:bodyPr>
          <a:lstStyle/>
          <a:p>
            <a:pPr>
              <a:spcBef>
                <a:spcPts val="0"/>
              </a:spcBef>
              <a:spcAft>
                <a:spcPts val="0"/>
              </a:spcAft>
              <a:defRPr sz="1285" b="1">
                <a:solidFill>
                  <a:srgbClr val="087F82"/>
                </a:solidFill>
                <a:latin typeface="Arial"/>
              </a:defRPr>
            </a:pPr>
            <a:r>
              <a:t>Schema-specific adapters</a:t>
            </a:r>
          </a:p>
        </p:txBody>
      </p:sp>
      <p:sp>
        <p:nvSpPr>
          <p:cNvPr id="26" name="TextBox 25"/>
          <p:cNvSpPr txBox="1"/>
          <p:nvPr/>
        </p:nvSpPr>
        <p:spPr>
          <a:xfrm>
            <a:off x="1471748" y="4722222"/>
            <a:ext cx="9849394"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Artifacts → values + path evidence</a:t>
            </a:r>
          </a:p>
        </p:txBody>
      </p:sp>
      <p:sp>
        <p:nvSpPr>
          <p:cNvPr id="27" name="Rounded Rectangle 26"/>
          <p:cNvSpPr/>
          <p:nvPr/>
        </p:nvSpPr>
        <p:spPr>
          <a:xfrm>
            <a:off x="4410891" y="914400"/>
            <a:ext cx="3304902" cy="4265022"/>
          </a:xfrm>
          <a:prstGeom prst="roundRect">
            <a:avLst>
              <a:gd name="adj" fmla="val 3162"/>
            </a:avLst>
          </a:prstGeom>
          <a:solidFill>
            <a:srgbClr val="FFFFFF"/>
          </a:solidFill>
          <a:ln w="979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02331" y="1012371"/>
            <a:ext cx="195942" cy="195942"/>
          </a:xfrm>
          <a:prstGeom prst="ellipse">
            <a:avLst/>
          </a:prstGeom>
          <a:solidFill>
            <a:srgbClr val="2463A5"/>
          </a:solidFill>
          <a:ln w="979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8051" y="1025434"/>
            <a:ext cx="6773091" cy="186145"/>
          </a:xfrm>
          <a:prstGeom prst="rect">
            <a:avLst/>
          </a:prstGeom>
          <a:noFill/>
        </p:spPr>
        <p:txBody>
          <a:bodyPr wrap="none" lIns="0" rIns="0" tIns="0" bIns="0">
            <a:spAutoFit/>
          </a:bodyPr>
          <a:lstStyle/>
          <a:p>
            <a:pPr>
              <a:spcBef>
                <a:spcPts val="0"/>
              </a:spcBef>
              <a:spcAft>
                <a:spcPts val="0"/>
              </a:spcAft>
              <a:defRPr sz="977" b="1">
                <a:solidFill>
                  <a:srgbClr val="FFFFFF"/>
                </a:solidFill>
                <a:latin typeface="Arial"/>
              </a:defRPr>
            </a:pPr>
            <a:r>
              <a:t>B</a:t>
            </a:r>
          </a:p>
        </p:txBody>
      </p:sp>
      <p:sp>
        <p:nvSpPr>
          <p:cNvPr id="30" name="TextBox 29"/>
          <p:cNvSpPr txBox="1"/>
          <p:nvPr/>
        </p:nvSpPr>
        <p:spPr>
          <a:xfrm>
            <a:off x="4763588" y="999308"/>
            <a:ext cx="6557554" cy="244928"/>
          </a:xfrm>
          <a:prstGeom prst="rect">
            <a:avLst/>
          </a:prstGeom>
          <a:noFill/>
        </p:spPr>
        <p:txBody>
          <a:bodyPr wrap="none" lIns="0" rIns="0" tIns="0" bIns="0">
            <a:spAutoFit/>
          </a:bodyPr>
          <a:lstStyle/>
          <a:p>
            <a:pPr>
              <a:spcBef>
                <a:spcPts val="0"/>
              </a:spcBef>
              <a:spcAft>
                <a:spcPts val="0"/>
              </a:spcAft>
              <a:defRPr sz="1285" b="1">
                <a:solidFill>
                  <a:srgbClr val="182C40"/>
                </a:solidFill>
                <a:latin typeface="Arial"/>
              </a:defRPr>
            </a:pPr>
            <a:r>
              <a:t>Code first; images on ties</a:t>
            </a:r>
          </a:p>
        </p:txBody>
      </p:sp>
      <p:sp>
        <p:nvSpPr>
          <p:cNvPr id="31" name="Rounded Rectangle 30"/>
          <p:cNvSpPr/>
          <p:nvPr/>
        </p:nvSpPr>
        <p:spPr>
          <a:xfrm>
            <a:off x="4567645" y="1312817"/>
            <a:ext cx="2991394" cy="966651"/>
          </a:xfrm>
          <a:prstGeom prst="roundRect">
            <a:avLst>
              <a:gd name="adj" fmla="val 8108"/>
            </a:avLst>
          </a:prstGeom>
          <a:solidFill>
            <a:srgbClr val="EFF5FC"/>
          </a:solidFill>
          <a:ln w="979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98274" y="1404257"/>
            <a:ext cx="6622868" cy="244928"/>
          </a:xfrm>
          <a:prstGeom prst="rect">
            <a:avLst/>
          </a:prstGeom>
          <a:noFill/>
        </p:spPr>
        <p:txBody>
          <a:bodyPr wrap="none" lIns="0" rIns="0" tIns="0" bIns="0">
            <a:spAutoFit/>
          </a:bodyPr>
          <a:lstStyle/>
          <a:p>
            <a:pPr>
              <a:spcBef>
                <a:spcPts val="0"/>
              </a:spcBef>
              <a:spcAft>
                <a:spcPts val="0"/>
              </a:spcAft>
              <a:defRPr sz="1285" b="1">
                <a:solidFill>
                  <a:srgbClr val="2463A5"/>
                </a:solidFill>
                <a:latin typeface="Arial"/>
              </a:defRPr>
            </a:pPr>
            <a:r>
              <a:t>One cached comparison policy</a:t>
            </a:r>
          </a:p>
        </p:txBody>
      </p:sp>
      <p:sp>
        <p:nvSpPr>
          <p:cNvPr id="33" name="TextBox 32"/>
          <p:cNvSpPr txBox="1"/>
          <p:nvPr/>
        </p:nvSpPr>
        <p:spPr>
          <a:xfrm>
            <a:off x="4698274" y="1658982"/>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Validity / output conformance → quality</a:t>
            </a:r>
          </a:p>
        </p:txBody>
      </p:sp>
      <p:sp>
        <p:nvSpPr>
          <p:cNvPr id="34" name="TextBox 33"/>
          <p:cNvSpPr txBox="1"/>
          <p:nvPr/>
        </p:nvSpPr>
        <p:spPr>
          <a:xfrm>
            <a:off x="4698274" y="1861457"/>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Earliest decisive criterion wins</a:t>
            </a:r>
          </a:p>
        </p:txBody>
      </p:sp>
      <p:sp>
        <p:nvSpPr>
          <p:cNvPr id="35" name="TextBox 34"/>
          <p:cNvSpPr txBox="1"/>
          <p:nvPr/>
        </p:nvSpPr>
        <p:spPr>
          <a:xfrm>
            <a:off x="4698274" y="2063931"/>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Unknown values do not imply failure</a:t>
            </a:r>
          </a:p>
        </p:txBody>
      </p:sp>
      <p:sp>
        <p:nvSpPr>
          <p:cNvPr id="36" name="Rounded Rectangle 35"/>
          <p:cNvSpPr/>
          <p:nvPr/>
        </p:nvSpPr>
        <p:spPr>
          <a:xfrm>
            <a:off x="4567645" y="2390502"/>
            <a:ext cx="2991394" cy="222068"/>
          </a:xfrm>
          <a:prstGeom prst="roundRect">
            <a:avLst>
              <a:gd name="adj" fmla="val 17647"/>
            </a:avLst>
          </a:prstGeom>
          <a:solidFill>
            <a:srgbClr val="EFF5FC"/>
          </a:solidFill>
          <a:ln w="979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39491" y="2416628"/>
            <a:ext cx="6681651" cy="176348"/>
          </a:xfrm>
          <a:prstGeom prst="rect">
            <a:avLst/>
          </a:prstGeom>
          <a:noFill/>
        </p:spPr>
        <p:txBody>
          <a:bodyPr wrap="none" lIns="0" rIns="0" tIns="0" bIns="0">
            <a:spAutoFit/>
          </a:bodyPr>
          <a:lstStyle/>
          <a:p>
            <a:pPr>
              <a:spcBef>
                <a:spcPts val="0"/>
              </a:spcBef>
              <a:spcAft>
                <a:spcPts val="0"/>
              </a:spcAft>
              <a:defRPr sz="925" b="1">
                <a:solidFill>
                  <a:srgbClr val="2463A5"/>
                </a:solidFill>
                <a:latin typeface="Arial"/>
              </a:defRPr>
            </a:pPr>
            <a:r>
              <a:t>Restricted interpreter + bounded repairs</a:t>
            </a:r>
          </a:p>
        </p:txBody>
      </p:sp>
      <p:sp>
        <p:nvSpPr>
          <p:cNvPr id="38" name="TextBox 37"/>
          <p:cNvSpPr txBox="1"/>
          <p:nvPr/>
        </p:nvSpPr>
        <p:spPr>
          <a:xfrm>
            <a:off x="4665617" y="2697480"/>
            <a:ext cx="6655525"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Check both orders, both self-ties</a:t>
            </a:r>
          </a:p>
        </p:txBody>
      </p:sp>
      <p:sp>
        <p:nvSpPr>
          <p:cNvPr id="39" name="TextBox 38"/>
          <p:cNvSpPr txBox="1"/>
          <p:nvPr/>
        </p:nvSpPr>
        <p:spPr>
          <a:xfrm>
            <a:off x="4665617" y="2899954"/>
            <a:ext cx="6655525"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and repeated forward execution.</a:t>
            </a:r>
          </a:p>
        </p:txBody>
      </p:sp>
      <p:cxnSp>
        <p:nvCxnSpPr>
          <p:cNvPr id="40" name="Connector 39"/>
          <p:cNvCxnSpPr/>
          <p:nvPr/>
        </p:nvCxnSpPr>
        <p:spPr>
          <a:xfrm>
            <a:off x="6063342" y="3122022"/>
            <a:ext cx="0" cy="163286"/>
          </a:xfrm>
          <a:prstGeom prst="line">
            <a:avLst/>
          </a:prstGeom>
          <a:ln w="16328">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161314" y="3115491"/>
            <a:ext cx="5159828" cy="186145"/>
          </a:xfrm>
          <a:prstGeom prst="rect">
            <a:avLst/>
          </a:prstGeom>
          <a:noFill/>
        </p:spPr>
        <p:txBody>
          <a:bodyPr wrap="none" lIns="0" rIns="0" tIns="0" bIns="0">
            <a:spAutoFit/>
          </a:bodyPr>
          <a:lstStyle/>
          <a:p>
            <a:pPr>
              <a:spcBef>
                <a:spcPts val="0"/>
              </a:spcBef>
              <a:spcAft>
                <a:spcPts val="0"/>
              </a:spcAft>
              <a:defRPr sz="977" b="1">
                <a:solidFill>
                  <a:srgbClr val="7752A6"/>
                </a:solidFill>
                <a:latin typeface="Arial"/>
              </a:defRPr>
            </a:pPr>
            <a:r>
              <a:t>Code tie only</a:t>
            </a:r>
          </a:p>
        </p:txBody>
      </p:sp>
      <p:sp>
        <p:nvSpPr>
          <p:cNvPr id="42" name="Rounded Rectangle 41"/>
          <p:cNvSpPr/>
          <p:nvPr/>
        </p:nvSpPr>
        <p:spPr>
          <a:xfrm>
            <a:off x="4567645" y="3331028"/>
            <a:ext cx="2991394" cy="1071154"/>
          </a:xfrm>
          <a:prstGeom prst="roundRect">
            <a:avLst>
              <a:gd name="adj" fmla="val 7317"/>
            </a:avLst>
          </a:prstGeom>
          <a:solidFill>
            <a:srgbClr val="F5F0FA"/>
          </a:solidFill>
          <a:ln w="9797">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98274" y="3422468"/>
            <a:ext cx="6622868" cy="244928"/>
          </a:xfrm>
          <a:prstGeom prst="rect">
            <a:avLst/>
          </a:prstGeom>
          <a:noFill/>
        </p:spPr>
        <p:txBody>
          <a:bodyPr wrap="none" lIns="0" rIns="0" tIns="0" bIns="0">
            <a:spAutoFit/>
          </a:bodyPr>
          <a:lstStyle/>
          <a:p>
            <a:pPr>
              <a:spcBef>
                <a:spcPts val="0"/>
              </a:spcBef>
              <a:spcAft>
                <a:spcPts val="0"/>
              </a:spcAft>
              <a:defRPr sz="1285" b="1">
                <a:solidFill>
                  <a:srgbClr val="7752A6"/>
                </a:solidFill>
                <a:latin typeface="Arial"/>
              </a:defRPr>
            </a:pPr>
            <a:r>
              <a:t>Relevant visual evidence</a:t>
            </a:r>
          </a:p>
        </p:txBody>
      </p:sp>
      <p:sp>
        <p:nvSpPr>
          <p:cNvPr id="44" name="TextBox 43"/>
          <p:cNvSpPr txBox="1"/>
          <p:nvPr/>
        </p:nvSpPr>
        <p:spPr>
          <a:xfrm>
            <a:off x="4698274" y="3651068"/>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Recon-selected images from both sides</a:t>
            </a:r>
          </a:p>
        </p:txBody>
      </p:sp>
      <p:sp>
        <p:nvSpPr>
          <p:cNvPr id="45" name="TextBox 44"/>
          <p:cNvSpPr txBox="1"/>
          <p:nvPr/>
        </p:nvSpPr>
        <p:spPr>
          <a:xfrm>
            <a:off x="4698274" y="3833948"/>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Vision model uses the same goal + criteria</a:t>
            </a:r>
          </a:p>
        </p:txBody>
      </p:sp>
      <p:sp>
        <p:nvSpPr>
          <p:cNvPr id="46" name="TextBox 45"/>
          <p:cNvSpPr txBox="1"/>
          <p:nvPr/>
        </p:nvSpPr>
        <p:spPr>
          <a:xfrm>
            <a:off x="4698274" y="4016828"/>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Accept only order-consistent outcomes</a:t>
            </a:r>
          </a:p>
        </p:txBody>
      </p:sp>
      <p:sp>
        <p:nvSpPr>
          <p:cNvPr id="47" name="TextBox 46"/>
          <p:cNvSpPr txBox="1"/>
          <p:nvPr/>
        </p:nvSpPr>
        <p:spPr>
          <a:xfrm>
            <a:off x="4698274" y="4199708"/>
            <a:ext cx="6622868"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Unresolved → pair stays tied</a:t>
            </a:r>
          </a:p>
        </p:txBody>
      </p:sp>
      <p:cxnSp>
        <p:nvCxnSpPr>
          <p:cNvPr id="48" name="Connector 47"/>
          <p:cNvCxnSpPr/>
          <p:nvPr/>
        </p:nvCxnSpPr>
        <p:spPr>
          <a:xfrm>
            <a:off x="6063342" y="4415245"/>
            <a:ext cx="0" cy="143692"/>
          </a:xfrm>
          <a:prstGeom prst="line">
            <a:avLst/>
          </a:prstGeom>
          <a:ln w="16328">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4567645" y="4585062"/>
            <a:ext cx="2991394" cy="424542"/>
          </a:xfrm>
          <a:prstGeom prst="roundRect">
            <a:avLst>
              <a:gd name="adj" fmla="val 18461"/>
            </a:avLst>
          </a:prstGeom>
          <a:solidFill>
            <a:srgbClr val="EFF5FC"/>
          </a:solidFill>
          <a:ln w="979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98274" y="4676502"/>
            <a:ext cx="6622868" cy="225334"/>
          </a:xfrm>
          <a:prstGeom prst="rect">
            <a:avLst/>
          </a:prstGeom>
          <a:noFill/>
        </p:spPr>
        <p:txBody>
          <a:bodyPr wrap="none" lIns="0" rIns="0" tIns="0" bIns="0">
            <a:spAutoFit/>
          </a:bodyPr>
          <a:lstStyle/>
          <a:p>
            <a:pPr>
              <a:spcBef>
                <a:spcPts val="0"/>
              </a:spcBef>
              <a:spcAft>
                <a:spcPts val="0"/>
              </a:spcAft>
              <a:defRPr sz="1182" b="1">
                <a:solidFill>
                  <a:srgbClr val="2463A5"/>
                </a:solidFill>
                <a:latin typeface="Arial"/>
              </a:defRPr>
            </a:pPr>
            <a:r>
              <a:t>Verdict · stage · evidence · feedback</a:t>
            </a:r>
          </a:p>
        </p:txBody>
      </p:sp>
      <p:sp>
        <p:nvSpPr>
          <p:cNvPr id="51" name="Rounded Rectangle 50"/>
          <p:cNvSpPr/>
          <p:nvPr/>
        </p:nvSpPr>
        <p:spPr>
          <a:xfrm>
            <a:off x="7911737" y="914400"/>
            <a:ext cx="3095897" cy="4265022"/>
          </a:xfrm>
          <a:prstGeom prst="roundRect">
            <a:avLst>
              <a:gd name="adj" fmla="val 3375"/>
            </a:avLst>
          </a:prstGeom>
          <a:solidFill>
            <a:srgbClr val="FFFFFF"/>
          </a:solidFill>
          <a:ln w="979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003177" y="1012371"/>
            <a:ext cx="195942" cy="195942"/>
          </a:xfrm>
          <a:prstGeom prst="ellipse">
            <a:avLst/>
          </a:prstGeom>
          <a:solidFill>
            <a:srgbClr val="AF6425"/>
          </a:solidFill>
          <a:ln w="979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8897" y="1025434"/>
            <a:ext cx="3272245" cy="186145"/>
          </a:xfrm>
          <a:prstGeom prst="rect">
            <a:avLst/>
          </a:prstGeom>
          <a:noFill/>
        </p:spPr>
        <p:txBody>
          <a:bodyPr wrap="none" lIns="0" rIns="0" tIns="0" bIns="0">
            <a:spAutoFit/>
          </a:bodyPr>
          <a:lstStyle/>
          <a:p>
            <a:pPr>
              <a:spcBef>
                <a:spcPts val="0"/>
              </a:spcBef>
              <a:spcAft>
                <a:spcPts val="0"/>
              </a:spcAft>
              <a:defRPr sz="977" b="1">
                <a:solidFill>
                  <a:srgbClr val="FFFFFF"/>
                </a:solidFill>
                <a:latin typeface="Arial"/>
              </a:defRPr>
            </a:pPr>
            <a:r>
              <a:t>C</a:t>
            </a:r>
          </a:p>
        </p:txBody>
      </p:sp>
      <p:sp>
        <p:nvSpPr>
          <p:cNvPr id="54" name="TextBox 53"/>
          <p:cNvSpPr txBox="1"/>
          <p:nvPr/>
        </p:nvSpPr>
        <p:spPr>
          <a:xfrm>
            <a:off x="8264434" y="999308"/>
            <a:ext cx="3056708" cy="244928"/>
          </a:xfrm>
          <a:prstGeom prst="rect">
            <a:avLst/>
          </a:prstGeom>
          <a:noFill/>
        </p:spPr>
        <p:txBody>
          <a:bodyPr wrap="none" lIns="0" rIns="0" tIns="0" bIns="0">
            <a:spAutoFit/>
          </a:bodyPr>
          <a:lstStyle/>
          <a:p>
            <a:pPr>
              <a:spcBef>
                <a:spcPts val="0"/>
              </a:spcBef>
              <a:spcAft>
                <a:spcPts val="0"/>
              </a:spcAft>
              <a:defRPr sz="1285" b="1">
                <a:solidFill>
                  <a:srgbClr val="182C40"/>
                </a:solidFill>
                <a:latin typeface="Arial"/>
              </a:defRPr>
            </a:pPr>
            <a:r>
              <a:t>Persistent task tournament</a:t>
            </a:r>
          </a:p>
        </p:txBody>
      </p:sp>
      <p:sp>
        <p:nvSpPr>
          <p:cNvPr id="55" name="Rounded Rectangle 54"/>
          <p:cNvSpPr/>
          <p:nvPr/>
        </p:nvSpPr>
        <p:spPr>
          <a:xfrm>
            <a:off x="8068491" y="1312817"/>
            <a:ext cx="2782388" cy="960120"/>
          </a:xfrm>
          <a:prstGeom prst="roundRect">
            <a:avLst>
              <a:gd name="adj" fmla="val 8163"/>
            </a:avLst>
          </a:prstGeom>
          <a:solidFill>
            <a:srgbClr val="FFF5E9"/>
          </a:solidFill>
          <a:ln w="979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99120" y="1404257"/>
            <a:ext cx="3122022" cy="244928"/>
          </a:xfrm>
          <a:prstGeom prst="rect">
            <a:avLst/>
          </a:prstGeom>
          <a:noFill/>
        </p:spPr>
        <p:txBody>
          <a:bodyPr wrap="none" lIns="0" rIns="0" tIns="0" bIns="0">
            <a:spAutoFit/>
          </a:bodyPr>
          <a:lstStyle/>
          <a:p>
            <a:pPr>
              <a:spcBef>
                <a:spcPts val="0"/>
              </a:spcBef>
              <a:spcAft>
                <a:spcPts val="0"/>
              </a:spcAft>
              <a:defRPr sz="1285" b="1">
                <a:solidFill>
                  <a:srgbClr val="AF6425"/>
                </a:solidFill>
                <a:latin typeface="Arial"/>
              </a:defRPr>
            </a:pPr>
            <a:r>
              <a:t>Every unordered pair</a:t>
            </a:r>
          </a:p>
        </p:txBody>
      </p:sp>
      <p:sp>
        <p:nvSpPr>
          <p:cNvPr id="57" name="TextBox 56"/>
          <p:cNvSpPr txBox="1"/>
          <p:nvPr/>
        </p:nvSpPr>
        <p:spPr>
          <a:xfrm>
            <a:off x="8199120" y="1658982"/>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Artifact + admission verdicts</a:t>
            </a:r>
          </a:p>
        </p:txBody>
      </p:sp>
      <p:sp>
        <p:nvSpPr>
          <p:cNvPr id="58" name="TextBox 57"/>
          <p:cNvSpPr txBox="1"/>
          <p:nvPr/>
        </p:nvSpPr>
        <p:spPr>
          <a:xfrm>
            <a:off x="8199120" y="1861457"/>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Pair ledger keyed by bundle version</a:t>
            </a:r>
          </a:p>
        </p:txBody>
      </p:sp>
      <p:sp>
        <p:nvSpPr>
          <p:cNvPr id="59" name="TextBox 58"/>
          <p:cNvSpPr txBox="1"/>
          <p:nvPr/>
        </p:nvSpPr>
        <p:spPr>
          <a:xfrm>
            <a:off x="8199120" y="2063931"/>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Bundle change → recompute all pairs</a:t>
            </a:r>
          </a:p>
        </p:txBody>
      </p:sp>
      <p:cxnSp>
        <p:nvCxnSpPr>
          <p:cNvPr id="60" name="Connector 59"/>
          <p:cNvCxnSpPr/>
          <p:nvPr/>
        </p:nvCxnSpPr>
        <p:spPr>
          <a:xfrm>
            <a:off x="9459685" y="2286000"/>
            <a:ext cx="0" cy="169817"/>
          </a:xfrm>
          <a:prstGeom prst="line">
            <a:avLst/>
          </a:prstGeom>
          <a:ln w="16328">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8068491" y="2475411"/>
            <a:ext cx="2782388" cy="738051"/>
          </a:xfrm>
          <a:prstGeom prst="roundRect">
            <a:avLst>
              <a:gd name="adj" fmla="val 10619"/>
            </a:avLst>
          </a:prstGeom>
          <a:solidFill>
            <a:srgbClr val="FFF5E9"/>
          </a:solidFill>
          <a:ln w="979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99120" y="2566851"/>
            <a:ext cx="3122022" cy="244928"/>
          </a:xfrm>
          <a:prstGeom prst="rect">
            <a:avLst/>
          </a:prstGeom>
          <a:noFill/>
        </p:spPr>
        <p:txBody>
          <a:bodyPr wrap="none" lIns="0" rIns="0" tIns="0" bIns="0">
            <a:spAutoFit/>
          </a:bodyPr>
          <a:lstStyle/>
          <a:p>
            <a:pPr>
              <a:spcBef>
                <a:spcPts val="0"/>
              </a:spcBef>
              <a:spcAft>
                <a:spcPts val="0"/>
              </a:spcAft>
              <a:defRPr sz="1285" b="1">
                <a:solidFill>
                  <a:srgbClr val="AF6425"/>
                </a:solidFill>
                <a:latin typeface="Arial"/>
              </a:defRPr>
            </a:pPr>
            <a:r>
              <a:t>Regularized strength estimation</a:t>
            </a:r>
          </a:p>
        </p:txBody>
      </p:sp>
      <p:sp>
        <p:nvSpPr>
          <p:cNvPr id="63" name="TextBox 62"/>
          <p:cNvSpPr txBox="1"/>
          <p:nvPr/>
        </p:nvSpPr>
        <p:spPr>
          <a:xfrm>
            <a:off x="8199120" y="2821577"/>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All pairs, including admission verdicts</a:t>
            </a:r>
          </a:p>
        </p:txBody>
      </p:sp>
      <p:sp>
        <p:nvSpPr>
          <p:cNvPr id="64" name="TextBox 63"/>
          <p:cNvSpPr txBox="1"/>
          <p:nvPr/>
        </p:nvSpPr>
        <p:spPr>
          <a:xfrm>
            <a:off x="8199120" y="3024051"/>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Fit latent θ; publish eligible σ(θ)</a:t>
            </a:r>
          </a:p>
        </p:txBody>
      </p:sp>
      <p:cxnSp>
        <p:nvCxnSpPr>
          <p:cNvPr id="65" name="Connector 64"/>
          <p:cNvCxnSpPr/>
          <p:nvPr/>
        </p:nvCxnSpPr>
        <p:spPr>
          <a:xfrm>
            <a:off x="9459685" y="3226525"/>
            <a:ext cx="0" cy="156755"/>
          </a:xfrm>
          <a:prstGeom prst="line">
            <a:avLst/>
          </a:prstGeom>
          <a:ln w="16328">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8068491" y="3402874"/>
            <a:ext cx="2782388" cy="653142"/>
          </a:xfrm>
          <a:prstGeom prst="roundRect">
            <a:avLst>
              <a:gd name="adj" fmla="val 12000"/>
            </a:avLst>
          </a:prstGeom>
          <a:solidFill>
            <a:srgbClr val="FFF5E9"/>
          </a:solidFill>
          <a:ln w="979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99120" y="3494314"/>
            <a:ext cx="3122022" cy="244928"/>
          </a:xfrm>
          <a:prstGeom prst="rect">
            <a:avLst/>
          </a:prstGeom>
          <a:noFill/>
        </p:spPr>
        <p:txBody>
          <a:bodyPr wrap="none" lIns="0" rIns="0" tIns="0" bIns="0">
            <a:spAutoFit/>
          </a:bodyPr>
          <a:lstStyle/>
          <a:p>
            <a:pPr>
              <a:spcBef>
                <a:spcPts val="0"/>
              </a:spcBef>
              <a:spcAft>
                <a:spcPts val="0"/>
              </a:spcAft>
              <a:defRPr sz="1285" b="1">
                <a:solidFill>
                  <a:srgbClr val="AF6425"/>
                </a:solidFill>
                <a:latin typeface="Arial"/>
              </a:defRPr>
            </a:pPr>
            <a:r>
              <a:t>Refresh all current rewards</a:t>
            </a:r>
          </a:p>
        </p:txBody>
      </p:sp>
      <p:sp>
        <p:nvSpPr>
          <p:cNvPr id="68" name="TextBox 67"/>
          <p:cNvSpPr txBox="1"/>
          <p:nvPr/>
        </p:nvSpPr>
        <p:spPr>
          <a:xfrm>
            <a:off x="8199120" y="3749039"/>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Selection uses the refreshed ratings</a:t>
            </a:r>
          </a:p>
        </p:txBody>
      </p:sp>
      <p:sp>
        <p:nvSpPr>
          <p:cNvPr id="69" name="Rounded Rectangle 68"/>
          <p:cNvSpPr/>
          <p:nvPr/>
        </p:nvSpPr>
        <p:spPr>
          <a:xfrm>
            <a:off x="8068491" y="4245428"/>
            <a:ext cx="2782388" cy="764177"/>
          </a:xfrm>
          <a:prstGeom prst="roundRect">
            <a:avLst>
              <a:gd name="adj" fmla="val 10256"/>
            </a:avLst>
          </a:prstGeom>
          <a:solidFill>
            <a:srgbClr val="EDF8F6"/>
          </a:solidFill>
          <a:ln w="979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199120" y="4336868"/>
            <a:ext cx="3122022" cy="244928"/>
          </a:xfrm>
          <a:prstGeom prst="rect">
            <a:avLst/>
          </a:prstGeom>
          <a:noFill/>
        </p:spPr>
        <p:txBody>
          <a:bodyPr wrap="none" lIns="0" rIns="0" tIns="0" bIns="0">
            <a:spAutoFit/>
          </a:bodyPr>
          <a:lstStyle/>
          <a:p>
            <a:pPr>
              <a:spcBef>
                <a:spcPts val="0"/>
              </a:spcBef>
              <a:spcAft>
                <a:spcPts val="0"/>
              </a:spcAft>
              <a:defRPr sz="1285" b="1">
                <a:solidFill>
                  <a:srgbClr val="087F82"/>
                </a:solidFill>
                <a:latin typeface="Arial"/>
              </a:defRPr>
            </a:pPr>
            <a:r>
              <a:t>Separate textual gradient</a:t>
            </a:r>
          </a:p>
        </p:txBody>
      </p:sp>
      <p:sp>
        <p:nvSpPr>
          <p:cNvPr id="71" name="TextBox 70"/>
          <p:cNvSpPr txBox="1"/>
          <p:nvPr/>
        </p:nvSpPr>
        <p:spPr>
          <a:xfrm>
            <a:off x="8199120" y="4591594"/>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Order losses first, then earliest stage</a:t>
            </a:r>
          </a:p>
        </p:txBody>
      </p:sp>
      <p:sp>
        <p:nvSpPr>
          <p:cNvPr id="72" name="TextBox 71"/>
          <p:cNvSpPr txBox="1"/>
          <p:nvPr/>
        </p:nvSpPr>
        <p:spPr>
          <a:xfrm>
            <a:off x="8199120" y="4794068"/>
            <a:ext cx="3122022" cy="215537"/>
          </a:xfrm>
          <a:prstGeom prst="rect">
            <a:avLst/>
          </a:prstGeom>
          <a:noFill/>
        </p:spPr>
        <p:txBody>
          <a:bodyPr wrap="none" lIns="0" rIns="0" tIns="0" bIns="0">
            <a:spAutoFit/>
          </a:bodyPr>
          <a:lstStyle/>
          <a:p>
            <a:pPr>
              <a:spcBef>
                <a:spcPts val="0"/>
              </a:spcBef>
              <a:spcAft>
                <a:spcPts val="0"/>
              </a:spcAft>
              <a:defRPr sz="1131" b="0">
                <a:solidFill>
                  <a:srgbClr val="526779"/>
                </a:solidFill>
                <a:latin typeface="Arial"/>
              </a:defRPr>
            </a:pPr>
            <a:r>
              <a:t>Retain diagnoses; omit scores / code</a:t>
            </a:r>
          </a:p>
        </p:txBody>
      </p:sp>
      <p:sp>
        <p:nvSpPr>
          <p:cNvPr id="73" name="Rounded Rectangle 72"/>
          <p:cNvSpPr/>
          <p:nvPr/>
        </p:nvSpPr>
        <p:spPr>
          <a:xfrm>
            <a:off x="1184365" y="5362302"/>
            <a:ext cx="9823268" cy="1123405"/>
          </a:xfrm>
          <a:prstGeom prst="roundRect">
            <a:avLst>
              <a:gd name="adj" fmla="val 6976"/>
            </a:avLst>
          </a:prstGeom>
          <a:solidFill>
            <a:srgbClr val="EFF5FC"/>
          </a:solidFill>
          <a:ln w="979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341120" y="5473337"/>
            <a:ext cx="9980022" cy="186145"/>
          </a:xfrm>
          <a:prstGeom prst="rect">
            <a:avLst/>
          </a:prstGeom>
          <a:noFill/>
        </p:spPr>
        <p:txBody>
          <a:bodyPr wrap="none" lIns="0" rIns="0" tIns="0" bIns="0">
            <a:spAutoFit/>
          </a:bodyPr>
          <a:lstStyle/>
          <a:p>
            <a:pPr>
              <a:spcBef>
                <a:spcPts val="0"/>
              </a:spcBef>
              <a:spcAft>
                <a:spcPts val="0"/>
              </a:spcAft>
              <a:defRPr sz="977" b="1">
                <a:solidFill>
                  <a:srgbClr val="2463A5"/>
                </a:solidFill>
                <a:latin typeface="Arial"/>
              </a:defRPr>
            </a:pPr>
            <a:r>
              <a:t>BRADLEY–TERRY MODEL</a:t>
            </a:r>
          </a:p>
        </p:txBody>
      </p:sp>
      <p:sp>
        <p:nvSpPr>
          <p:cNvPr id="75" name="TextBox 74"/>
          <p:cNvSpPr txBox="1"/>
          <p:nvPr/>
        </p:nvSpPr>
        <p:spPr>
          <a:xfrm>
            <a:off x="1341120" y="5715000"/>
            <a:ext cx="9980022" cy="284117"/>
          </a:xfrm>
          <a:prstGeom prst="rect">
            <a:avLst/>
          </a:prstGeom>
          <a:noFill/>
        </p:spPr>
        <p:txBody>
          <a:bodyPr wrap="none" lIns="0" rIns="0" tIns="0" bIns="0">
            <a:spAutoFit/>
          </a:bodyPr>
          <a:lstStyle/>
          <a:p>
            <a:pPr>
              <a:spcBef>
                <a:spcPts val="0"/>
              </a:spcBef>
              <a:spcAft>
                <a:spcPts val="0"/>
              </a:spcAft>
              <a:defRPr sz="1491" b="1">
                <a:solidFill>
                  <a:srgbClr val="182C40"/>
                </a:solidFill>
                <a:latin typeface="Arial"/>
              </a:defRPr>
            </a:pPr>
            <a:r>
              <a:t>pᵢⱼ = σ(θᵢ − θⱼ)</a:t>
            </a:r>
          </a:p>
        </p:txBody>
      </p:sp>
      <p:sp>
        <p:nvSpPr>
          <p:cNvPr id="76" name="TextBox 75"/>
          <p:cNvSpPr txBox="1"/>
          <p:nvPr/>
        </p:nvSpPr>
        <p:spPr>
          <a:xfrm>
            <a:off x="1341120" y="6035040"/>
            <a:ext cx="9980022"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yᵢⱼ = 1 (win), ½ (tie), 0 (loss)</a:t>
            </a:r>
          </a:p>
        </p:txBody>
      </p:sp>
      <p:sp>
        <p:nvSpPr>
          <p:cNvPr id="77" name="TextBox 76"/>
          <p:cNvSpPr txBox="1"/>
          <p:nvPr/>
        </p:nvSpPr>
        <p:spPr>
          <a:xfrm>
            <a:off x="4659085" y="5473337"/>
            <a:ext cx="6662057" cy="186145"/>
          </a:xfrm>
          <a:prstGeom prst="rect">
            <a:avLst/>
          </a:prstGeom>
          <a:noFill/>
        </p:spPr>
        <p:txBody>
          <a:bodyPr wrap="none" lIns="0" rIns="0" tIns="0" bIns="0">
            <a:spAutoFit/>
          </a:bodyPr>
          <a:lstStyle/>
          <a:p>
            <a:pPr>
              <a:spcBef>
                <a:spcPts val="0"/>
              </a:spcBef>
              <a:spcAft>
                <a:spcPts val="0"/>
              </a:spcAft>
              <a:defRPr sz="977" b="1">
                <a:solidFill>
                  <a:srgbClr val="2463A5"/>
                </a:solidFill>
                <a:latin typeface="Arial"/>
              </a:defRPr>
            </a:pPr>
            <a:r>
              <a:t>REGULARIZED OBJECTIVE</a:t>
            </a:r>
          </a:p>
        </p:txBody>
      </p:sp>
      <p:sp>
        <p:nvSpPr>
          <p:cNvPr id="78" name="TextBox 77"/>
          <p:cNvSpPr txBox="1"/>
          <p:nvPr/>
        </p:nvSpPr>
        <p:spPr>
          <a:xfrm>
            <a:off x="4659085" y="5715000"/>
            <a:ext cx="6662057" cy="225334"/>
          </a:xfrm>
          <a:prstGeom prst="rect">
            <a:avLst/>
          </a:prstGeom>
          <a:noFill/>
        </p:spPr>
        <p:txBody>
          <a:bodyPr wrap="none" lIns="0" rIns="0" tIns="0" bIns="0">
            <a:spAutoFit/>
          </a:bodyPr>
          <a:lstStyle/>
          <a:p>
            <a:pPr>
              <a:spcBef>
                <a:spcPts val="0"/>
              </a:spcBef>
              <a:spcAft>
                <a:spcPts val="0"/>
              </a:spcAft>
              <a:defRPr sz="1182" b="1">
                <a:solidFill>
                  <a:srgbClr val="182C40"/>
                </a:solidFill>
                <a:latin typeface="Arial"/>
              </a:defRPr>
            </a:pPr>
            <a:r>
              <a:t>min over θ:  −Σ [yᵢⱼ log pᵢⱼ + (1−yᵢⱼ) log(1−pᵢⱼ)] + ½ Σ θᵢ²</a:t>
            </a:r>
          </a:p>
        </p:txBody>
      </p:sp>
      <p:sp>
        <p:nvSpPr>
          <p:cNvPr id="79" name="TextBox 78"/>
          <p:cNvSpPr txBox="1"/>
          <p:nvPr/>
        </p:nvSpPr>
        <p:spPr>
          <a:xfrm>
            <a:off x="4659085" y="6035040"/>
            <a:ext cx="6662057" cy="195942"/>
          </a:xfrm>
          <a:prstGeom prst="rect">
            <a:avLst/>
          </a:prstGeom>
          <a:noFill/>
        </p:spPr>
        <p:txBody>
          <a:bodyPr wrap="none" lIns="0" rIns="0" tIns="0" bIns="0">
            <a:spAutoFit/>
          </a:bodyPr>
          <a:lstStyle/>
          <a:p>
            <a:pPr>
              <a:spcBef>
                <a:spcPts val="0"/>
              </a:spcBef>
              <a:spcAft>
                <a:spcPts val="0"/>
              </a:spcAft>
              <a:defRPr sz="1028" b="0">
                <a:solidFill>
                  <a:srgbClr val="526779"/>
                </a:solidFill>
                <a:latin typeface="Arial"/>
              </a:defRPr>
            </a:pPr>
            <a:r>
              <a:t>Unit Gaussian prior • rᵢ = σ(θᵢ) versus a neutral-strength opponent; ineligible rᵢ = 0.</a:t>
            </a:r>
          </a:p>
        </p:txBody>
      </p:sp>
      <p:sp>
        <p:nvSpPr>
          <p:cNvPr id="80" name="TextBox 79"/>
          <p:cNvSpPr txBox="1"/>
          <p:nvPr/>
        </p:nvSpPr>
        <p:spPr>
          <a:xfrm>
            <a:off x="1184365" y="6590211"/>
            <a:ext cx="10136777" cy="176348"/>
          </a:xfrm>
          <a:prstGeom prst="rect">
            <a:avLst/>
          </a:prstGeom>
          <a:noFill/>
        </p:spPr>
        <p:txBody>
          <a:bodyPr wrap="none" lIns="0" rIns="0" tIns="0" bIns="0">
            <a:spAutoFit/>
          </a:bodyPr>
          <a:lstStyle/>
          <a:p>
            <a:pPr>
              <a:spcBef>
                <a:spcPts val="0"/>
              </a:spcBef>
              <a:spcAft>
                <a:spcPts val="0"/>
              </a:spcAft>
              <a:defRPr sz="925" b="0">
                <a:solidFill>
                  <a:srgbClr val="526779"/>
                </a:solidFill>
                <a:latin typeface="Arial"/>
              </a:defRPr>
            </a:pPr>
            <a:r>
              <a:t>No-pair eligible baseline: 0.5.  Instrument error: unscored, not reward 0.  Reruns are trusted local shell execution, not an OS sandbox.</a:t>
            </a:r>
          </a:p>
        </p:txBody>
      </p:sp>
      <p:cxnSp>
        <p:nvCxnSpPr>
          <p:cNvPr id="81" name="Connector 80"/>
          <p:cNvCxnSpPr/>
          <p:nvPr/>
        </p:nvCxnSpPr>
        <p:spPr>
          <a:xfrm>
            <a:off x="7559040" y="4800600"/>
            <a:ext cx="254725" cy="0"/>
          </a:xfrm>
          <a:prstGeom prst="line">
            <a:avLst/>
          </a:prstGeom>
          <a:ln w="16328">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813765" y="1730828"/>
            <a:ext cx="0" cy="3069772"/>
          </a:xfrm>
          <a:prstGeom prst="line">
            <a:avLst/>
          </a:prstGeom>
          <a:ln w="16328">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813765" y="1730828"/>
            <a:ext cx="254726" cy="0"/>
          </a:xfrm>
          <a:prstGeom prst="line">
            <a:avLst/>
          </a:prstGeom>
          <a:ln w="16328">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813765" y="4800600"/>
            <a:ext cx="254726" cy="0"/>
          </a:xfrm>
          <a:prstGeom prst="line">
            <a:avLst/>
          </a:prstGeom>
          <a:ln w="16328">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59040" y="1796142"/>
            <a:ext cx="71845" cy="0"/>
          </a:xfrm>
          <a:prstGeom prst="line">
            <a:avLst/>
          </a:prstGeom>
          <a:ln w="16328">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30885" y="1796142"/>
            <a:ext cx="0" cy="2704012"/>
          </a:xfrm>
          <a:prstGeom prst="line">
            <a:avLst/>
          </a:prstGeom>
          <a:ln w="16328">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7271657" y="4500154"/>
            <a:ext cx="359228" cy="0"/>
          </a:xfrm>
          <a:prstGeom prst="line">
            <a:avLst/>
          </a:prstGeom>
          <a:ln w="16328">
            <a:solidFill>
              <a:srgbClr val="2463A5"/>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271657" y="4500154"/>
            <a:ext cx="0" cy="84908"/>
          </a:xfrm>
          <a:prstGeom prst="line">
            <a:avLst/>
          </a:prstGeom>
          <a:ln w="16328">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947160" y="2952205"/>
            <a:ext cx="0" cy="496389"/>
          </a:xfrm>
          <a:prstGeom prst="line">
            <a:avLst/>
          </a:prstGeom>
          <a:ln w="16328">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3692434" y="3291840"/>
            <a:ext cx="7628708" cy="156754"/>
          </a:xfrm>
          <a:prstGeom prst="rect">
            <a:avLst/>
          </a:prstGeom>
          <a:noFill/>
        </p:spPr>
        <p:txBody>
          <a:bodyPr wrap="none" lIns="0" rIns="0" tIns="0" bIns="0">
            <a:spAutoFit/>
          </a:bodyPr>
          <a:lstStyle/>
          <a:p>
            <a:pPr>
              <a:spcBef>
                <a:spcPts val="0"/>
              </a:spcBef>
              <a:spcAft>
                <a:spcPts val="0"/>
              </a:spcAft>
              <a:defRPr sz="822" b="0">
                <a:solidFill>
                  <a:srgbClr val="087F82"/>
                </a:solidFill>
                <a:latin typeface="Arial"/>
              </a:defRPr>
            </a:pPr>
            <a:r>
              <a:t>pass</a:t>
            </a:r>
          </a:p>
        </p:txBody>
      </p:sp>
      <p:cxnSp>
        <p:nvCxnSpPr>
          <p:cNvPr id="91" name="Connector 90"/>
          <p:cNvCxnSpPr/>
          <p:nvPr/>
        </p:nvCxnSpPr>
        <p:spPr>
          <a:xfrm>
            <a:off x="4058194" y="4702628"/>
            <a:ext cx="254726" cy="0"/>
          </a:xfrm>
          <a:prstGeom prst="line">
            <a:avLst/>
          </a:prstGeom>
          <a:ln w="16328">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4312920" y="1796142"/>
            <a:ext cx="0" cy="2906486"/>
          </a:xfrm>
          <a:prstGeom prst="line">
            <a:avLst/>
          </a:prstGeom>
          <a:ln w="16328">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312920" y="1796142"/>
            <a:ext cx="254725" cy="0"/>
          </a:xfrm>
          <a:prstGeom prst="line">
            <a:avLst/>
          </a:prstGeom>
          <a:ln w="16328">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6481354" y="4421777"/>
            <a:ext cx="4839788" cy="156754"/>
          </a:xfrm>
          <a:prstGeom prst="rect">
            <a:avLst/>
          </a:prstGeom>
          <a:noFill/>
        </p:spPr>
        <p:txBody>
          <a:bodyPr wrap="none" lIns="0" rIns="0" tIns="0" bIns="0">
            <a:spAutoFit/>
          </a:bodyPr>
          <a:lstStyle/>
          <a:p>
            <a:pPr>
              <a:spcBef>
                <a:spcPts val="0"/>
              </a:spcBef>
              <a:spcAft>
                <a:spcPts val="0"/>
              </a:spcAft>
              <a:defRPr sz="822" b="1">
                <a:solidFill>
                  <a:srgbClr val="2463A5"/>
                </a:solidFill>
                <a:latin typeface="Arial"/>
              </a:defRPr>
            </a:pPr>
            <a:r>
              <a:t>Code decides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0980"/>
            <a:ext cx="11826240" cy="434340"/>
          </a:xfrm>
          <a:prstGeom prst="rect">
            <a:avLst/>
          </a:prstGeom>
          <a:noFill/>
        </p:spPr>
        <p:txBody>
          <a:bodyPr wrap="none" lIns="0" rIns="0" tIns="0" bIns="0">
            <a:spAutoFit/>
          </a:bodyPr>
          <a:lstStyle/>
          <a:p>
            <a:pPr>
              <a:spcBef>
                <a:spcPts val="0"/>
              </a:spcBef>
              <a:spcAft>
                <a:spcPts val="0"/>
              </a:spcAft>
              <a:defRPr sz="2280" b="1">
                <a:solidFill>
                  <a:srgbClr val="182C40"/>
                </a:solidFill>
                <a:latin typeface="Arial"/>
              </a:defRPr>
            </a:pPr>
            <a:r>
              <a:t>One policy. Two evidence channels. A tournament reward.</a:t>
            </a:r>
          </a:p>
        </p:txBody>
      </p:sp>
      <p:sp>
        <p:nvSpPr>
          <p:cNvPr id="3" name="TextBox 2"/>
          <p:cNvSpPr txBox="1"/>
          <p:nvPr/>
        </p:nvSpPr>
        <p:spPr>
          <a:xfrm>
            <a:off x="365760" y="632460"/>
            <a:ext cx="1182624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Policy-BT evaluates scientific outputs across workflow generations—not against hidden benchmark answers.</a:t>
            </a:r>
          </a:p>
        </p:txBody>
      </p:sp>
      <p:sp>
        <p:nvSpPr>
          <p:cNvPr id="4" name="Rounded Rectangle 3"/>
          <p:cNvSpPr/>
          <p:nvPr/>
        </p:nvSpPr>
        <p:spPr>
          <a:xfrm>
            <a:off x="365760" y="1097280"/>
            <a:ext cx="2552700" cy="259080"/>
          </a:xfrm>
          <a:prstGeom prst="roundRect">
            <a:avLst>
              <a:gd name="adj" fmla="val 17647"/>
            </a:avLst>
          </a:prstGeom>
          <a:solidFill>
            <a:srgbClr val="EDF8F6"/>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49580" y="1127760"/>
            <a:ext cx="11742420" cy="205740"/>
          </a:xfrm>
          <a:prstGeom prst="rect">
            <a:avLst/>
          </a:prstGeom>
          <a:noFill/>
        </p:spPr>
        <p:txBody>
          <a:bodyPr wrap="none" lIns="0" rIns="0" tIns="0" bIns="0">
            <a:spAutoFit/>
          </a:bodyPr>
          <a:lstStyle/>
          <a:p>
            <a:pPr>
              <a:spcBef>
                <a:spcPts val="0"/>
              </a:spcBef>
              <a:spcAft>
                <a:spcPts val="0"/>
              </a:spcAft>
              <a:defRPr sz="1080" b="1">
                <a:solidFill>
                  <a:srgbClr val="087F82"/>
                </a:solidFill>
                <a:latin typeface="Arial"/>
              </a:defRPr>
            </a:pPr>
            <a:r>
              <a:t>01   PRESERVE THE EVIDENCE</a:t>
            </a:r>
          </a:p>
        </p:txBody>
      </p:sp>
      <p:sp>
        <p:nvSpPr>
          <p:cNvPr id="6" name="Rounded Rectangle 5"/>
          <p:cNvSpPr/>
          <p:nvPr/>
        </p:nvSpPr>
        <p:spPr>
          <a:xfrm>
            <a:off x="4419600" y="1097280"/>
            <a:ext cx="3352800" cy="259080"/>
          </a:xfrm>
          <a:prstGeom prst="roundRect">
            <a:avLst>
              <a:gd name="adj" fmla="val 17647"/>
            </a:avLst>
          </a:prstGeom>
          <a:solidFill>
            <a:srgbClr val="EFF5FC"/>
          </a:solidFill>
          <a:ln w="11430">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3420" y="1127760"/>
            <a:ext cx="7688580" cy="205740"/>
          </a:xfrm>
          <a:prstGeom prst="rect">
            <a:avLst/>
          </a:prstGeom>
          <a:noFill/>
        </p:spPr>
        <p:txBody>
          <a:bodyPr wrap="none" lIns="0" rIns="0" tIns="0" bIns="0">
            <a:spAutoFit/>
          </a:bodyPr>
          <a:lstStyle/>
          <a:p>
            <a:pPr>
              <a:spcBef>
                <a:spcPts val="0"/>
              </a:spcBef>
              <a:spcAft>
                <a:spcPts val="0"/>
              </a:spcAft>
              <a:defRPr sz="1080" b="1">
                <a:solidFill>
                  <a:srgbClr val="2463A5"/>
                </a:solidFill>
                <a:latin typeface="Arial"/>
              </a:defRPr>
            </a:pPr>
            <a:r>
              <a:t>02   COMPARE UNDER ONE CONTRACT</a:t>
            </a:r>
          </a:p>
        </p:txBody>
      </p:sp>
      <p:sp>
        <p:nvSpPr>
          <p:cNvPr id="8" name="Rounded Rectangle 7"/>
          <p:cNvSpPr/>
          <p:nvPr/>
        </p:nvSpPr>
        <p:spPr>
          <a:xfrm>
            <a:off x="8717280" y="1097280"/>
            <a:ext cx="3108960" cy="259080"/>
          </a:xfrm>
          <a:prstGeom prst="roundRect">
            <a:avLst>
              <a:gd name="adj" fmla="val 17647"/>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01100" y="1127760"/>
            <a:ext cx="3390900" cy="205740"/>
          </a:xfrm>
          <a:prstGeom prst="rect">
            <a:avLst/>
          </a:prstGeom>
          <a:noFill/>
        </p:spPr>
        <p:txBody>
          <a:bodyPr wrap="none" lIns="0" rIns="0" tIns="0" bIns="0">
            <a:spAutoFit/>
          </a:bodyPr>
          <a:lstStyle/>
          <a:p>
            <a:pPr>
              <a:spcBef>
                <a:spcPts val="0"/>
              </a:spcBef>
              <a:spcAft>
                <a:spcPts val="0"/>
              </a:spcAft>
              <a:defRPr sz="1080" b="1">
                <a:solidFill>
                  <a:srgbClr val="AF6425"/>
                </a:solidFill>
                <a:latin typeface="Arial"/>
              </a:defRPr>
            </a:pPr>
            <a:r>
              <a:t>03   UPDATE THE EVOLUTION SIGNAL</a:t>
            </a:r>
          </a:p>
        </p:txBody>
      </p:sp>
      <p:sp>
        <p:nvSpPr>
          <p:cNvPr id="10" name="Rounded Rectangle 9"/>
          <p:cNvSpPr/>
          <p:nvPr/>
        </p:nvSpPr>
        <p:spPr>
          <a:xfrm>
            <a:off x="365760" y="1554480"/>
            <a:ext cx="3352800" cy="3421380"/>
          </a:xfrm>
          <a:prstGeom prst="roundRect">
            <a:avLst>
              <a:gd name="adj" fmla="val 4090"/>
            </a:avLst>
          </a:prstGeom>
          <a:solidFill>
            <a:srgbClr val="FFFFFF"/>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836420"/>
            <a:ext cx="472440" cy="548640"/>
          </a:xfrm>
          <a:prstGeom prst="roundRect">
            <a:avLst>
              <a:gd name="adj" fmla="val 6451"/>
            </a:avLst>
          </a:prstGeom>
          <a:solidFill>
            <a:srgbClr val="FFFFFF"/>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2940" y="1912620"/>
            <a:ext cx="472440" cy="548640"/>
          </a:xfrm>
          <a:prstGeom prst="roundRect">
            <a:avLst>
              <a:gd name="adj" fmla="val 6451"/>
            </a:avLst>
          </a:prstGeom>
          <a:solidFill>
            <a:srgbClr val="FFFFFF"/>
          </a:solidFill>
          <a:ln w="11430">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754380" y="2049780"/>
            <a:ext cx="274320"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54380" y="2156460"/>
            <a:ext cx="274320"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4380" y="2263140"/>
            <a:ext cx="182879" cy="0"/>
          </a:xfrm>
          <a:prstGeom prst="line">
            <a:avLst/>
          </a:prstGeom>
          <a:ln w="15240">
            <a:solidFill>
              <a:srgbClr val="087F8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17320" y="1844040"/>
            <a:ext cx="10774680" cy="297180"/>
          </a:xfrm>
          <a:prstGeom prst="rect">
            <a:avLst/>
          </a:prstGeom>
          <a:noFill/>
        </p:spPr>
        <p:txBody>
          <a:bodyPr wrap="none" lIns="0" rIns="0" tIns="0" bIns="0">
            <a:spAutoFit/>
          </a:bodyPr>
          <a:lstStyle/>
          <a:p>
            <a:pPr>
              <a:spcBef>
                <a:spcPts val="0"/>
              </a:spcBef>
              <a:spcAft>
                <a:spcPts val="0"/>
              </a:spcAft>
              <a:defRPr sz="1560" b="1">
                <a:solidFill>
                  <a:srgbClr val="182C40"/>
                </a:solidFill>
                <a:latin typeface="Arial"/>
              </a:defRPr>
            </a:pPr>
            <a:r>
              <a:t>Workspace snapshots</a:t>
            </a:r>
          </a:p>
        </p:txBody>
      </p:sp>
      <p:sp>
        <p:nvSpPr>
          <p:cNvPr id="17" name="TextBox 16"/>
          <p:cNvSpPr txBox="1"/>
          <p:nvPr/>
        </p:nvSpPr>
        <p:spPr>
          <a:xfrm>
            <a:off x="1417320" y="2179320"/>
            <a:ext cx="10774680" cy="262890"/>
          </a:xfrm>
          <a:prstGeom prst="rect">
            <a:avLst/>
          </a:prstGeom>
          <a:noFill/>
        </p:spPr>
        <p:txBody>
          <a:bodyPr wrap="none" lIns="0" rIns="0" tIns="0" bIns="0">
            <a:spAutoFit/>
          </a:bodyPr>
          <a:lstStyle/>
          <a:p>
            <a:pPr>
              <a:spcBef>
                <a:spcPts val="0"/>
              </a:spcBef>
              <a:spcAft>
                <a:spcPts val="0"/>
              </a:spcAft>
              <a:defRPr sz="1380" b="0">
                <a:solidFill>
                  <a:srgbClr val="526779"/>
                </a:solidFill>
                <a:latin typeface="Arial"/>
              </a:defRPr>
            </a:pPr>
            <a:r>
              <a:t>Code, logs, tables</a:t>
            </a:r>
          </a:p>
        </p:txBody>
      </p:sp>
      <p:sp>
        <p:nvSpPr>
          <p:cNvPr id="18" name="TextBox 17"/>
          <p:cNvSpPr txBox="1"/>
          <p:nvPr/>
        </p:nvSpPr>
        <p:spPr>
          <a:xfrm>
            <a:off x="1417320" y="2415540"/>
            <a:ext cx="10774680" cy="262890"/>
          </a:xfrm>
          <a:prstGeom prst="rect">
            <a:avLst/>
          </a:prstGeom>
          <a:noFill/>
        </p:spPr>
        <p:txBody>
          <a:bodyPr wrap="none" lIns="0" rIns="0" tIns="0" bIns="0">
            <a:spAutoFit/>
          </a:bodyPr>
          <a:lstStyle/>
          <a:p>
            <a:pPr>
              <a:spcBef>
                <a:spcPts val="0"/>
              </a:spcBef>
              <a:spcAft>
                <a:spcPts val="0"/>
              </a:spcAft>
              <a:defRPr sz="1380" b="0">
                <a:solidFill>
                  <a:srgbClr val="526779"/>
                </a:solidFill>
                <a:latin typeface="Arial"/>
              </a:defRPr>
            </a:pPr>
            <a:r>
              <a:t>and visual artifacts</a:t>
            </a:r>
          </a:p>
        </p:txBody>
      </p:sp>
      <p:cxnSp>
        <p:nvCxnSpPr>
          <p:cNvPr id="19" name="Connector 18"/>
          <p:cNvCxnSpPr/>
          <p:nvPr/>
        </p:nvCxnSpPr>
        <p:spPr>
          <a:xfrm>
            <a:off x="2042160" y="2606040"/>
            <a:ext cx="0" cy="22860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2964180"/>
            <a:ext cx="11551920" cy="331470"/>
          </a:xfrm>
          <a:prstGeom prst="rect">
            <a:avLst/>
          </a:prstGeom>
          <a:noFill/>
        </p:spPr>
        <p:txBody>
          <a:bodyPr wrap="none" lIns="0" rIns="0" tIns="0" bIns="0">
            <a:spAutoFit/>
          </a:bodyPr>
          <a:lstStyle/>
          <a:p>
            <a:pPr>
              <a:spcBef>
                <a:spcPts val="0"/>
              </a:spcBef>
              <a:spcAft>
                <a:spcPts val="0"/>
              </a:spcAft>
              <a:defRPr sz="1739" b="1">
                <a:solidFill>
                  <a:srgbClr val="087F82"/>
                </a:solidFill>
                <a:latin typeface="Arial"/>
              </a:defRPr>
            </a:pPr>
            <a:r>
              <a:t>Reproduce → normalize</a:t>
            </a:r>
          </a:p>
        </p:txBody>
      </p:sp>
      <p:sp>
        <p:nvSpPr>
          <p:cNvPr id="21" name="TextBox 20"/>
          <p:cNvSpPr txBox="1"/>
          <p:nvPr/>
        </p:nvSpPr>
        <p:spPr>
          <a:xfrm>
            <a:off x="640080" y="3360420"/>
            <a:ext cx="115519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Required reproduction contract</a:t>
            </a:r>
          </a:p>
        </p:txBody>
      </p:sp>
      <p:sp>
        <p:nvSpPr>
          <p:cNvPr id="22" name="TextBox 21"/>
          <p:cNvSpPr txBox="1"/>
          <p:nvPr/>
        </p:nvSpPr>
        <p:spPr>
          <a:xfrm>
            <a:off x="640080" y="3649980"/>
            <a:ext cx="115519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Fresh-venv rerun by default</a:t>
            </a:r>
          </a:p>
        </p:txBody>
      </p:sp>
      <p:sp>
        <p:nvSpPr>
          <p:cNvPr id="23" name="TextBox 22"/>
          <p:cNvSpPr txBox="1"/>
          <p:nvPr/>
        </p:nvSpPr>
        <p:spPr>
          <a:xfrm>
            <a:off x="640080" y="3939540"/>
            <a:ext cx="115519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Schema adapters read real outputs</a:t>
            </a:r>
          </a:p>
        </p:txBody>
      </p:sp>
      <p:sp>
        <p:nvSpPr>
          <p:cNvPr id="24" name="Rounded Rectangle 23"/>
          <p:cNvSpPr/>
          <p:nvPr/>
        </p:nvSpPr>
        <p:spPr>
          <a:xfrm>
            <a:off x="640080" y="4419600"/>
            <a:ext cx="2796540" cy="259080"/>
          </a:xfrm>
          <a:prstGeom prst="roundRect">
            <a:avLst>
              <a:gd name="adj" fmla="val 17647"/>
            </a:avLst>
          </a:prstGeom>
          <a:solidFill>
            <a:srgbClr val="FCEFED"/>
          </a:solidFill>
          <a:ln w="11430">
            <a:solidFill>
              <a:srgbClr val="A849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3900" y="4450080"/>
            <a:ext cx="11468100" cy="205740"/>
          </a:xfrm>
          <a:prstGeom prst="rect">
            <a:avLst/>
          </a:prstGeom>
          <a:noFill/>
        </p:spPr>
        <p:txBody>
          <a:bodyPr wrap="none" lIns="0" rIns="0" tIns="0" bIns="0">
            <a:spAutoFit/>
          </a:bodyPr>
          <a:lstStyle/>
          <a:p>
            <a:pPr>
              <a:spcBef>
                <a:spcPts val="0"/>
              </a:spcBef>
              <a:spcAft>
                <a:spcPts val="0"/>
              </a:spcAft>
              <a:defRPr sz="1080" b="1">
                <a:solidFill>
                  <a:srgbClr val="A84943"/>
                </a:solidFill>
                <a:latin typeface="Arial"/>
              </a:defRPr>
            </a:pPr>
            <a:r>
              <a:t>Ineligible generations receive 0</a:t>
            </a:r>
          </a:p>
        </p:txBody>
      </p:sp>
      <p:cxnSp>
        <p:nvCxnSpPr>
          <p:cNvPr id="26" name="Connector 25"/>
          <p:cNvCxnSpPr/>
          <p:nvPr/>
        </p:nvCxnSpPr>
        <p:spPr>
          <a:xfrm>
            <a:off x="3726180" y="3208020"/>
            <a:ext cx="457200" cy="0"/>
          </a:xfrm>
          <a:prstGeom prst="line">
            <a:avLst/>
          </a:prstGeom>
          <a:ln w="1905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90999" y="1554480"/>
            <a:ext cx="3810000" cy="3421380"/>
          </a:xfrm>
          <a:prstGeom prst="roundRect">
            <a:avLst>
              <a:gd name="adj" fmla="val 4008"/>
            </a:avLst>
          </a:prstGeom>
          <a:solidFill>
            <a:srgbClr val="FFFFFF"/>
          </a:solidFill>
          <a:ln w="11430">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9600" y="1790700"/>
            <a:ext cx="7772400" cy="331470"/>
          </a:xfrm>
          <a:prstGeom prst="rect">
            <a:avLst/>
          </a:prstGeom>
          <a:noFill/>
        </p:spPr>
        <p:txBody>
          <a:bodyPr wrap="none" lIns="0" rIns="0" tIns="0" bIns="0">
            <a:spAutoFit/>
          </a:bodyPr>
          <a:lstStyle/>
          <a:p>
            <a:pPr>
              <a:spcBef>
                <a:spcPts val="0"/>
              </a:spcBef>
              <a:spcAft>
                <a:spcPts val="0"/>
              </a:spcAft>
              <a:defRPr sz="1739" b="1">
                <a:solidFill>
                  <a:srgbClr val="2463A5"/>
                </a:solidFill>
                <a:latin typeface="Arial"/>
              </a:defRPr>
            </a:pPr>
            <a:r>
              <a:t>Deterministic Python policy</a:t>
            </a:r>
          </a:p>
        </p:txBody>
      </p:sp>
      <p:sp>
        <p:nvSpPr>
          <p:cNvPr id="29" name="TextBox 28"/>
          <p:cNvSpPr txBox="1"/>
          <p:nvPr/>
        </p:nvSpPr>
        <p:spPr>
          <a:xfrm>
            <a:off x="4419600" y="2171700"/>
            <a:ext cx="7772400" cy="262890"/>
          </a:xfrm>
          <a:prstGeom prst="rect">
            <a:avLst/>
          </a:prstGeom>
          <a:noFill/>
        </p:spPr>
        <p:txBody>
          <a:bodyPr wrap="none" lIns="0" rIns="0" tIns="0" bIns="0">
            <a:spAutoFit/>
          </a:bodyPr>
          <a:lstStyle/>
          <a:p>
            <a:pPr>
              <a:spcBef>
                <a:spcPts val="0"/>
              </a:spcBef>
              <a:spcAft>
                <a:spcPts val="0"/>
              </a:spcAft>
              <a:defRPr sz="1380" b="0">
                <a:solidFill>
                  <a:srgbClr val="526779"/>
                </a:solidFill>
                <a:latin typeface="Arial"/>
              </a:defRPr>
            </a:pPr>
            <a:r>
              <a:t>Goal-defined criteria, fixed across the task</a:t>
            </a:r>
          </a:p>
        </p:txBody>
      </p:sp>
      <p:sp>
        <p:nvSpPr>
          <p:cNvPr id="30" name="TextBox 29"/>
          <p:cNvSpPr txBox="1"/>
          <p:nvPr/>
        </p:nvSpPr>
        <p:spPr>
          <a:xfrm>
            <a:off x="4419600" y="2453640"/>
            <a:ext cx="7772400" cy="262890"/>
          </a:xfrm>
          <a:prstGeom prst="rect">
            <a:avLst/>
          </a:prstGeom>
          <a:noFill/>
        </p:spPr>
        <p:txBody>
          <a:bodyPr wrap="none" lIns="0" rIns="0" tIns="0" bIns="0">
            <a:spAutoFit/>
          </a:bodyPr>
          <a:lstStyle/>
          <a:p>
            <a:pPr>
              <a:spcBef>
                <a:spcPts val="0"/>
              </a:spcBef>
              <a:spcAft>
                <a:spcPts val="0"/>
              </a:spcAft>
              <a:defRPr sz="1380" b="0">
                <a:solidFill>
                  <a:srgbClr val="526779"/>
                </a:solidFill>
                <a:latin typeface="Arial"/>
              </a:defRPr>
            </a:pPr>
            <a:r>
              <a:t>Earliest decisive stage → win / loss / tie</a:t>
            </a:r>
          </a:p>
        </p:txBody>
      </p:sp>
      <p:cxnSp>
        <p:nvCxnSpPr>
          <p:cNvPr id="31" name="Connector 30"/>
          <p:cNvCxnSpPr/>
          <p:nvPr/>
        </p:nvCxnSpPr>
        <p:spPr>
          <a:xfrm>
            <a:off x="6096000" y="2819400"/>
            <a:ext cx="0" cy="388620"/>
          </a:xfrm>
          <a:prstGeom prst="line">
            <a:avLst/>
          </a:prstGeom>
          <a:ln w="19050">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33160" y="2910840"/>
            <a:ext cx="5958840" cy="251460"/>
          </a:xfrm>
          <a:prstGeom prst="rect">
            <a:avLst/>
          </a:prstGeom>
          <a:noFill/>
        </p:spPr>
        <p:txBody>
          <a:bodyPr wrap="none" lIns="0" rIns="0" tIns="0" bIns="0">
            <a:spAutoFit/>
          </a:bodyPr>
          <a:lstStyle/>
          <a:p>
            <a:pPr>
              <a:spcBef>
                <a:spcPts val="0"/>
              </a:spcBef>
              <a:spcAft>
                <a:spcPts val="0"/>
              </a:spcAft>
              <a:defRPr sz="1320" b="1">
                <a:solidFill>
                  <a:srgbClr val="7752A6"/>
                </a:solidFill>
                <a:latin typeface="Arial"/>
              </a:defRPr>
            </a:pPr>
            <a:r>
              <a:t>Only on a tie</a:t>
            </a:r>
          </a:p>
        </p:txBody>
      </p:sp>
      <p:sp>
        <p:nvSpPr>
          <p:cNvPr id="33" name="Rounded Rectangle 32"/>
          <p:cNvSpPr/>
          <p:nvPr/>
        </p:nvSpPr>
        <p:spPr>
          <a:xfrm>
            <a:off x="4427220" y="3421380"/>
            <a:ext cx="792480" cy="548640"/>
          </a:xfrm>
          <a:prstGeom prst="roundRect">
            <a:avLst>
              <a:gd name="adj" fmla="val 5555"/>
            </a:avLst>
          </a:prstGeom>
          <a:solidFill>
            <a:srgbClr val="FFFFFF"/>
          </a:solidFill>
          <a:ln w="11430">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533900" y="3512820"/>
            <a:ext cx="0" cy="342900"/>
          </a:xfrm>
          <a:prstGeom prst="line">
            <a:avLst/>
          </a:prstGeom>
          <a:ln w="11429">
            <a:solidFill>
              <a:srgbClr val="7752A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33900" y="3855720"/>
            <a:ext cx="579120" cy="0"/>
          </a:xfrm>
          <a:prstGeom prst="line">
            <a:avLst/>
          </a:prstGeom>
          <a:ln w="11429">
            <a:solidFill>
              <a:srgbClr val="7752A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72000" y="3718560"/>
            <a:ext cx="121920" cy="76200"/>
          </a:xfrm>
          <a:prstGeom prst="line">
            <a:avLst/>
          </a:prstGeom>
          <a:ln w="22859">
            <a:solidFill>
              <a:srgbClr val="7752A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693920" y="3718560"/>
            <a:ext cx="99060" cy="38100"/>
          </a:xfrm>
          <a:prstGeom prst="line">
            <a:avLst/>
          </a:prstGeom>
          <a:ln w="22859">
            <a:solidFill>
              <a:srgbClr val="7752A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792980" y="3596640"/>
            <a:ext cx="144780" cy="160020"/>
          </a:xfrm>
          <a:prstGeom prst="line">
            <a:avLst/>
          </a:prstGeom>
          <a:ln w="22859">
            <a:solidFill>
              <a:srgbClr val="7752A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937760" y="3558540"/>
            <a:ext cx="160020" cy="38100"/>
          </a:xfrm>
          <a:prstGeom prst="line">
            <a:avLst/>
          </a:prstGeom>
          <a:ln w="22859">
            <a:solidFill>
              <a:srgbClr val="7752A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40680" y="3398520"/>
            <a:ext cx="6751320" cy="308610"/>
          </a:xfrm>
          <a:prstGeom prst="rect">
            <a:avLst/>
          </a:prstGeom>
          <a:noFill/>
        </p:spPr>
        <p:txBody>
          <a:bodyPr wrap="none" lIns="0" rIns="0" tIns="0" bIns="0">
            <a:spAutoFit/>
          </a:bodyPr>
          <a:lstStyle/>
          <a:p>
            <a:pPr>
              <a:spcBef>
                <a:spcPts val="0"/>
              </a:spcBef>
              <a:spcAft>
                <a:spcPts val="0"/>
              </a:spcAft>
              <a:defRPr sz="1620" b="1">
                <a:solidFill>
                  <a:srgbClr val="7752A6"/>
                </a:solidFill>
                <a:latin typeface="Arial"/>
              </a:defRPr>
            </a:pPr>
            <a:r>
              <a:t>Image-based judge</a:t>
            </a:r>
          </a:p>
        </p:txBody>
      </p:sp>
      <p:sp>
        <p:nvSpPr>
          <p:cNvPr id="41" name="TextBox 40"/>
          <p:cNvSpPr txBox="1"/>
          <p:nvPr/>
        </p:nvSpPr>
        <p:spPr>
          <a:xfrm>
            <a:off x="5440680" y="3749039"/>
            <a:ext cx="67513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Relevant images on both sides</a:t>
            </a:r>
          </a:p>
        </p:txBody>
      </p:sp>
      <p:sp>
        <p:nvSpPr>
          <p:cNvPr id="42" name="TextBox 41"/>
          <p:cNvSpPr txBox="1"/>
          <p:nvPr/>
        </p:nvSpPr>
        <p:spPr>
          <a:xfrm>
            <a:off x="5440680" y="4000500"/>
            <a:ext cx="675132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Agreement in both orders</a:t>
            </a:r>
          </a:p>
        </p:txBody>
      </p:sp>
      <p:sp>
        <p:nvSpPr>
          <p:cNvPr id="43" name="Rounded Rectangle 42"/>
          <p:cNvSpPr/>
          <p:nvPr/>
        </p:nvSpPr>
        <p:spPr>
          <a:xfrm>
            <a:off x="4427220" y="4419600"/>
            <a:ext cx="3329940" cy="259080"/>
          </a:xfrm>
          <a:prstGeom prst="roundRect">
            <a:avLst>
              <a:gd name="adj" fmla="val 17647"/>
            </a:avLst>
          </a:prstGeom>
          <a:solidFill>
            <a:srgbClr val="F5F0FA"/>
          </a:solidFill>
          <a:ln w="11430">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11040" y="4450080"/>
            <a:ext cx="7680960" cy="205740"/>
          </a:xfrm>
          <a:prstGeom prst="rect">
            <a:avLst/>
          </a:prstGeom>
          <a:noFill/>
        </p:spPr>
        <p:txBody>
          <a:bodyPr wrap="none" lIns="0" rIns="0" tIns="0" bIns="0">
            <a:spAutoFit/>
          </a:bodyPr>
          <a:lstStyle/>
          <a:p>
            <a:pPr>
              <a:spcBef>
                <a:spcPts val="0"/>
              </a:spcBef>
              <a:spcAft>
                <a:spcPts val="0"/>
              </a:spcAft>
              <a:defRPr sz="1080" b="1">
                <a:solidFill>
                  <a:srgbClr val="7752A6"/>
                </a:solidFill>
                <a:latin typeface="Arial"/>
              </a:defRPr>
            </a:pPr>
            <a:r>
              <a:t>Unresolved visual comparison remains tied</a:t>
            </a:r>
          </a:p>
        </p:txBody>
      </p:sp>
      <p:cxnSp>
        <p:nvCxnSpPr>
          <p:cNvPr id="45" name="Connector 44"/>
          <p:cNvCxnSpPr/>
          <p:nvPr/>
        </p:nvCxnSpPr>
        <p:spPr>
          <a:xfrm>
            <a:off x="8008620" y="3208020"/>
            <a:ext cx="472440" cy="0"/>
          </a:xfrm>
          <a:prstGeom prst="line">
            <a:avLst/>
          </a:prstGeom>
          <a:ln w="19050">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8488680" y="1554480"/>
            <a:ext cx="3337560" cy="3421380"/>
          </a:xfrm>
          <a:prstGeom prst="roundRect">
            <a:avLst>
              <a:gd name="adj" fmla="val 4109"/>
            </a:avLst>
          </a:prstGeom>
          <a:solidFill>
            <a:srgbClr val="FFFFFF"/>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8983980" y="1988819"/>
            <a:ext cx="838200" cy="0"/>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983980" y="1988819"/>
            <a:ext cx="419100" cy="647701"/>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9403080" y="1988819"/>
            <a:ext cx="419100" cy="647701"/>
          </a:xfrm>
          <a:prstGeom prst="line">
            <a:avLst/>
          </a:prstGeom>
          <a:ln w="15240">
            <a:solidFill>
              <a:srgbClr val="AF6425"/>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8801100" y="180594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77300" y="1882139"/>
            <a:ext cx="331470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G₁</a:t>
            </a:r>
          </a:p>
        </p:txBody>
      </p:sp>
      <p:sp>
        <p:nvSpPr>
          <p:cNvPr id="52" name="Oval 51"/>
          <p:cNvSpPr/>
          <p:nvPr/>
        </p:nvSpPr>
        <p:spPr>
          <a:xfrm>
            <a:off x="9639300" y="180594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15500" y="1882139"/>
            <a:ext cx="247650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G₂</a:t>
            </a:r>
          </a:p>
        </p:txBody>
      </p:sp>
      <p:sp>
        <p:nvSpPr>
          <p:cNvPr id="54" name="Oval 53"/>
          <p:cNvSpPr/>
          <p:nvPr/>
        </p:nvSpPr>
        <p:spPr>
          <a:xfrm>
            <a:off x="9220200" y="2453640"/>
            <a:ext cx="365760" cy="365760"/>
          </a:xfrm>
          <a:prstGeom prst="ellipse">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96400" y="2529840"/>
            <a:ext cx="2895600" cy="240030"/>
          </a:xfrm>
          <a:prstGeom prst="rect">
            <a:avLst/>
          </a:prstGeom>
          <a:noFill/>
        </p:spPr>
        <p:txBody>
          <a:bodyPr wrap="none" lIns="0" rIns="0" tIns="0" bIns="0">
            <a:spAutoFit/>
          </a:bodyPr>
          <a:lstStyle/>
          <a:p>
            <a:pPr>
              <a:spcBef>
                <a:spcPts val="0"/>
              </a:spcBef>
              <a:spcAft>
                <a:spcPts val="0"/>
              </a:spcAft>
              <a:defRPr sz="1260" b="1">
                <a:solidFill>
                  <a:srgbClr val="AF6425"/>
                </a:solidFill>
                <a:latin typeface="Arial"/>
              </a:defRPr>
            </a:pPr>
            <a:r>
              <a:t>G₃</a:t>
            </a:r>
          </a:p>
        </p:txBody>
      </p:sp>
      <p:sp>
        <p:nvSpPr>
          <p:cNvPr id="56" name="TextBox 55"/>
          <p:cNvSpPr txBox="1"/>
          <p:nvPr/>
        </p:nvSpPr>
        <p:spPr>
          <a:xfrm>
            <a:off x="10210800" y="1813560"/>
            <a:ext cx="1981199" cy="297180"/>
          </a:xfrm>
          <a:prstGeom prst="rect">
            <a:avLst/>
          </a:prstGeom>
          <a:noFill/>
        </p:spPr>
        <p:txBody>
          <a:bodyPr wrap="none" lIns="0" rIns="0" tIns="0" bIns="0">
            <a:spAutoFit/>
          </a:bodyPr>
          <a:lstStyle/>
          <a:p>
            <a:pPr>
              <a:spcBef>
                <a:spcPts val="0"/>
              </a:spcBef>
              <a:spcAft>
                <a:spcPts val="0"/>
              </a:spcAft>
              <a:defRPr sz="1560" b="1">
                <a:solidFill>
                  <a:srgbClr val="AF6425"/>
                </a:solidFill>
                <a:latin typeface="Arial"/>
              </a:defRPr>
            </a:pPr>
            <a:r>
              <a:t>All-pairs</a:t>
            </a:r>
          </a:p>
        </p:txBody>
      </p:sp>
      <p:sp>
        <p:nvSpPr>
          <p:cNvPr id="57" name="TextBox 56"/>
          <p:cNvSpPr txBox="1"/>
          <p:nvPr/>
        </p:nvSpPr>
        <p:spPr>
          <a:xfrm>
            <a:off x="10210800" y="2110740"/>
            <a:ext cx="1981199" cy="297180"/>
          </a:xfrm>
          <a:prstGeom prst="rect">
            <a:avLst/>
          </a:prstGeom>
          <a:noFill/>
        </p:spPr>
        <p:txBody>
          <a:bodyPr wrap="none" lIns="0" rIns="0" tIns="0" bIns="0">
            <a:spAutoFit/>
          </a:bodyPr>
          <a:lstStyle/>
          <a:p>
            <a:pPr>
              <a:spcBef>
                <a:spcPts val="0"/>
              </a:spcBef>
              <a:spcAft>
                <a:spcPts val="0"/>
              </a:spcAft>
              <a:defRPr sz="1560" b="1">
                <a:solidFill>
                  <a:srgbClr val="AF6425"/>
                </a:solidFill>
                <a:latin typeface="Arial"/>
              </a:defRPr>
            </a:pPr>
            <a:r>
              <a:t>tournament</a:t>
            </a:r>
          </a:p>
        </p:txBody>
      </p:sp>
      <p:sp>
        <p:nvSpPr>
          <p:cNvPr id="58" name="TextBox 57"/>
          <p:cNvSpPr txBox="1"/>
          <p:nvPr/>
        </p:nvSpPr>
        <p:spPr>
          <a:xfrm>
            <a:off x="8717280" y="2964180"/>
            <a:ext cx="3474720" cy="331470"/>
          </a:xfrm>
          <a:prstGeom prst="rect">
            <a:avLst/>
          </a:prstGeom>
          <a:noFill/>
        </p:spPr>
        <p:txBody>
          <a:bodyPr wrap="none" lIns="0" rIns="0" tIns="0" bIns="0">
            <a:spAutoFit/>
          </a:bodyPr>
          <a:lstStyle/>
          <a:p>
            <a:pPr>
              <a:spcBef>
                <a:spcPts val="0"/>
              </a:spcBef>
              <a:spcAft>
                <a:spcPts val="0"/>
              </a:spcAft>
              <a:defRPr sz="1739" b="1">
                <a:solidFill>
                  <a:srgbClr val="AF6425"/>
                </a:solidFill>
                <a:latin typeface="Arial"/>
              </a:defRPr>
            </a:pPr>
            <a:r>
              <a:t>Bradley–Terry rewards</a:t>
            </a:r>
          </a:p>
        </p:txBody>
      </p:sp>
      <p:sp>
        <p:nvSpPr>
          <p:cNvPr id="59" name="TextBox 58"/>
          <p:cNvSpPr txBox="1"/>
          <p:nvPr/>
        </p:nvSpPr>
        <p:spPr>
          <a:xfrm>
            <a:off x="8717280" y="3360420"/>
            <a:ext cx="34747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Fit strengths from pair outcomes</a:t>
            </a:r>
          </a:p>
        </p:txBody>
      </p:sp>
      <p:sp>
        <p:nvSpPr>
          <p:cNvPr id="60" name="TextBox 59"/>
          <p:cNvSpPr txBox="1"/>
          <p:nvPr/>
        </p:nvSpPr>
        <p:spPr>
          <a:xfrm>
            <a:off x="8717280" y="3649980"/>
            <a:ext cx="34747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Refresh every current rating</a:t>
            </a:r>
          </a:p>
        </p:txBody>
      </p:sp>
      <p:sp>
        <p:nvSpPr>
          <p:cNvPr id="61" name="TextBox 60"/>
          <p:cNvSpPr txBox="1"/>
          <p:nvPr/>
        </p:nvSpPr>
        <p:spPr>
          <a:xfrm>
            <a:off x="8717280" y="3939540"/>
            <a:ext cx="3474720" cy="274320"/>
          </a:xfrm>
          <a:prstGeom prst="rect">
            <a:avLst/>
          </a:prstGeom>
          <a:noFill/>
        </p:spPr>
        <p:txBody>
          <a:bodyPr wrap="none" lIns="0" rIns="0" tIns="0" bIns="0">
            <a:spAutoFit/>
          </a:bodyPr>
          <a:lstStyle/>
          <a:p>
            <a:pPr>
              <a:spcBef>
                <a:spcPts val="0"/>
              </a:spcBef>
              <a:spcAft>
                <a:spcPts val="0"/>
              </a:spcAft>
              <a:defRPr sz="1439" b="0">
                <a:solidFill>
                  <a:srgbClr val="526779"/>
                </a:solidFill>
                <a:latin typeface="Arial"/>
              </a:defRPr>
            </a:pPr>
            <a:r>
              <a:t>Evidence → actionable feedback</a:t>
            </a:r>
          </a:p>
        </p:txBody>
      </p:sp>
      <p:sp>
        <p:nvSpPr>
          <p:cNvPr id="62" name="Rounded Rectangle 61"/>
          <p:cNvSpPr/>
          <p:nvPr/>
        </p:nvSpPr>
        <p:spPr>
          <a:xfrm>
            <a:off x="8717280" y="4419600"/>
            <a:ext cx="2880360" cy="259080"/>
          </a:xfrm>
          <a:prstGeom prst="roundRect">
            <a:avLst>
              <a:gd name="adj" fmla="val 17647"/>
            </a:avLst>
          </a:prstGeom>
          <a:solidFill>
            <a:srgbClr val="FFF5E9"/>
          </a:solidFill>
          <a:ln w="11430">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801100" y="4450080"/>
            <a:ext cx="3390900" cy="182880"/>
          </a:xfrm>
          <a:prstGeom prst="rect">
            <a:avLst/>
          </a:prstGeom>
          <a:noFill/>
        </p:spPr>
        <p:txBody>
          <a:bodyPr wrap="none" lIns="0" rIns="0" tIns="0" bIns="0">
            <a:spAutoFit/>
          </a:bodyPr>
          <a:lstStyle/>
          <a:p>
            <a:pPr>
              <a:spcBef>
                <a:spcPts val="0"/>
              </a:spcBef>
              <a:spcAft>
                <a:spcPts val="0"/>
              </a:spcAft>
              <a:defRPr sz="960" b="1">
                <a:solidFill>
                  <a:srgbClr val="AF6425"/>
                </a:solidFill>
                <a:latin typeface="Arial"/>
              </a:defRPr>
            </a:pPr>
            <a:r>
              <a:t>Reward ≠ raw win rate ≠ benchmark grade</a:t>
            </a:r>
          </a:p>
        </p:txBody>
      </p:sp>
      <p:cxnSp>
        <p:nvCxnSpPr>
          <p:cNvPr id="64" name="Connector 63"/>
          <p:cNvCxnSpPr/>
          <p:nvPr/>
        </p:nvCxnSpPr>
        <p:spPr>
          <a:xfrm>
            <a:off x="10157460" y="4998720"/>
            <a:ext cx="0" cy="647700"/>
          </a:xfrm>
          <a:prstGeom prst="line">
            <a:avLst/>
          </a:prstGeom>
          <a:ln w="22859">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2042160" y="5646420"/>
            <a:ext cx="8115300" cy="0"/>
          </a:xfrm>
          <a:prstGeom prst="line">
            <a:avLst/>
          </a:prstGeom>
          <a:ln w="22859">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042160" y="4998720"/>
            <a:ext cx="0" cy="647700"/>
          </a:xfrm>
          <a:prstGeom prst="line">
            <a:avLst/>
          </a:prstGeom>
          <a:ln w="22859">
            <a:solidFill>
              <a:srgbClr val="087F8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3337560" y="5387340"/>
            <a:ext cx="5379720" cy="670560"/>
          </a:xfrm>
          <a:prstGeom prst="rect">
            <a:avLst/>
          </a:prstGeom>
          <a:solidFill>
            <a:srgbClr val="FFFFFF"/>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82340" y="5448300"/>
            <a:ext cx="8709660" cy="331470"/>
          </a:xfrm>
          <a:prstGeom prst="rect">
            <a:avLst/>
          </a:prstGeom>
          <a:noFill/>
        </p:spPr>
        <p:txBody>
          <a:bodyPr wrap="none" lIns="0" rIns="0" tIns="0" bIns="0">
            <a:spAutoFit/>
          </a:bodyPr>
          <a:lstStyle/>
          <a:p>
            <a:pPr>
              <a:spcBef>
                <a:spcPts val="0"/>
              </a:spcBef>
              <a:spcAft>
                <a:spcPts val="0"/>
              </a:spcAft>
              <a:defRPr sz="1739" b="1">
                <a:solidFill>
                  <a:srgbClr val="087F82"/>
                </a:solidFill>
                <a:latin typeface="Arial"/>
              </a:defRPr>
            </a:pPr>
            <a:r>
              <a:t>Selection + evidence-grounded mutation</a:t>
            </a:r>
          </a:p>
        </p:txBody>
      </p:sp>
      <p:sp>
        <p:nvSpPr>
          <p:cNvPr id="69" name="TextBox 68"/>
          <p:cNvSpPr txBox="1"/>
          <p:nvPr/>
        </p:nvSpPr>
        <p:spPr>
          <a:xfrm>
            <a:off x="4495800" y="5768340"/>
            <a:ext cx="7696199" cy="262890"/>
          </a:xfrm>
          <a:prstGeom prst="rect">
            <a:avLst/>
          </a:prstGeom>
          <a:noFill/>
        </p:spPr>
        <p:txBody>
          <a:bodyPr wrap="none" lIns="0" rIns="0" tIns="0" bIns="0">
            <a:spAutoFit/>
          </a:bodyPr>
          <a:lstStyle/>
          <a:p>
            <a:pPr>
              <a:spcBef>
                <a:spcPts val="0"/>
              </a:spcBef>
              <a:spcAft>
                <a:spcPts val="0"/>
              </a:spcAft>
              <a:defRPr sz="1380" b="0">
                <a:solidFill>
                  <a:srgbClr val="526779"/>
                </a:solidFill>
                <a:latin typeface="Arial"/>
              </a:defRPr>
            </a:pPr>
            <a:r>
              <a:t>Generate the next workspace</a:t>
            </a:r>
          </a:p>
        </p:txBody>
      </p:sp>
      <p:sp>
        <p:nvSpPr>
          <p:cNvPr id="70" name="TextBox 69"/>
          <p:cNvSpPr txBox="1"/>
          <p:nvPr/>
        </p:nvSpPr>
        <p:spPr>
          <a:xfrm>
            <a:off x="365760" y="6408420"/>
            <a:ext cx="11826240" cy="251460"/>
          </a:xfrm>
          <a:prstGeom prst="rect">
            <a:avLst/>
          </a:prstGeom>
          <a:noFill/>
        </p:spPr>
        <p:txBody>
          <a:bodyPr wrap="none" lIns="0" rIns="0" tIns="0" bIns="0">
            <a:spAutoFit/>
          </a:bodyPr>
          <a:lstStyle/>
          <a:p>
            <a:pPr>
              <a:spcBef>
                <a:spcPts val="0"/>
              </a:spcBef>
              <a:spcAft>
                <a:spcPts val="0"/>
              </a:spcAft>
              <a:defRPr sz="1320" b="0">
                <a:solidFill>
                  <a:srgbClr val="526779"/>
                </a:solidFill>
                <a:latin typeface="Arial"/>
              </a:defRPr>
            </a:pPr>
            <a:r>
              <a:t>Code decides first. Images can break a tie. Bradley–Terry converts the verdict history into a current reward.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38784" y="198882"/>
            <a:ext cx="10643615" cy="390906"/>
          </a:xfrm>
          <a:prstGeom prst="rect">
            <a:avLst/>
          </a:prstGeom>
          <a:noFill/>
        </p:spPr>
        <p:txBody>
          <a:bodyPr wrap="none" lIns="0" rIns="0" tIns="0" bIns="0">
            <a:spAutoFit/>
          </a:bodyPr>
          <a:lstStyle/>
          <a:p>
            <a:pPr>
              <a:spcBef>
                <a:spcPts val="0"/>
              </a:spcBef>
              <a:spcAft>
                <a:spcPts val="0"/>
              </a:spcAft>
              <a:defRPr sz="2052" b="1">
                <a:solidFill>
                  <a:srgbClr val="182C40"/>
                </a:solidFill>
                <a:latin typeface="Arial"/>
              </a:defRPr>
            </a:pPr>
            <a:r>
              <a:t>Mimosa-AI: evolving scientific workflows with Policy-BT</a:t>
            </a:r>
          </a:p>
        </p:txBody>
      </p:sp>
      <p:sp>
        <p:nvSpPr>
          <p:cNvPr id="3" name="TextBox 2"/>
          <p:cNvSpPr txBox="1"/>
          <p:nvPr/>
        </p:nvSpPr>
        <p:spPr>
          <a:xfrm>
            <a:off x="938784" y="569214"/>
            <a:ext cx="10643615"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Code is the genotype. Workspace artifacts are the evidence. Selection and feedback drive the next generation.</a:t>
            </a:r>
          </a:p>
        </p:txBody>
      </p:sp>
      <p:sp>
        <p:nvSpPr>
          <p:cNvPr id="4" name="Rounded Rectangle 3"/>
          <p:cNvSpPr/>
          <p:nvPr/>
        </p:nvSpPr>
        <p:spPr>
          <a:xfrm>
            <a:off x="938784" y="939546"/>
            <a:ext cx="6391656" cy="466344"/>
          </a:xfrm>
          <a:prstGeom prst="roundRect">
            <a:avLst>
              <a:gd name="adj" fmla="val 17647"/>
            </a:avLst>
          </a:prstGeom>
          <a:solidFill>
            <a:srgbClr val="EDF8F6"/>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9660" y="1014984"/>
            <a:ext cx="10492740" cy="257175"/>
          </a:xfrm>
          <a:prstGeom prst="rect">
            <a:avLst/>
          </a:prstGeom>
          <a:noFill/>
        </p:spPr>
        <p:txBody>
          <a:bodyPr wrap="none" lIns="0" rIns="0" tIns="0" bIns="0">
            <a:spAutoFit/>
          </a:bodyPr>
          <a:lstStyle/>
          <a:p>
            <a:pPr>
              <a:spcBef>
                <a:spcPts val="0"/>
              </a:spcBef>
              <a:spcAft>
                <a:spcPts val="0"/>
              </a:spcAft>
              <a:defRPr sz="1350" b="1">
                <a:solidFill>
                  <a:srgbClr val="087F82"/>
                </a:solidFill>
                <a:latin typeface="Arial"/>
              </a:defRPr>
            </a:pPr>
            <a:r>
              <a:t>Task goal + input data</a:t>
            </a:r>
          </a:p>
        </p:txBody>
      </p:sp>
      <p:sp>
        <p:nvSpPr>
          <p:cNvPr id="6" name="TextBox 5"/>
          <p:cNvSpPr txBox="1"/>
          <p:nvPr/>
        </p:nvSpPr>
        <p:spPr>
          <a:xfrm>
            <a:off x="3366516" y="1028700"/>
            <a:ext cx="8215884" cy="216027"/>
          </a:xfrm>
          <a:prstGeom prst="rect">
            <a:avLst/>
          </a:prstGeom>
          <a:noFill/>
        </p:spPr>
        <p:txBody>
          <a:bodyPr wrap="none" lIns="0" rIns="0" tIns="0" bIns="0">
            <a:spAutoFit/>
          </a:bodyPr>
          <a:lstStyle/>
          <a:p>
            <a:pPr>
              <a:spcBef>
                <a:spcPts val="0"/>
              </a:spcBef>
              <a:spcAft>
                <a:spcPts val="0"/>
              </a:spcAft>
              <a:defRPr sz="1134" b="0">
                <a:solidFill>
                  <a:srgbClr val="087F82"/>
                </a:solidFill>
                <a:latin typeface="Arial"/>
              </a:defRPr>
            </a:pPr>
            <a:r>
              <a:t>Scientific tools via MCP · optional literature grounding</a:t>
            </a:r>
          </a:p>
        </p:txBody>
      </p:sp>
      <p:cxnSp>
        <p:nvCxnSpPr>
          <p:cNvPr id="7" name="Connector 6"/>
          <p:cNvCxnSpPr/>
          <p:nvPr/>
        </p:nvCxnSpPr>
        <p:spPr>
          <a:xfrm>
            <a:off x="2413254" y="1405890"/>
            <a:ext cx="0" cy="226314"/>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855970" y="1405890"/>
            <a:ext cx="0" cy="226314"/>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38784" y="1632204"/>
            <a:ext cx="2948940" cy="1611630"/>
          </a:xfrm>
          <a:prstGeom prst="roundRect">
            <a:avLst>
              <a:gd name="adj" fmla="val 6808"/>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34796" y="1735074"/>
            <a:ext cx="205740" cy="205740"/>
          </a:xfrm>
          <a:prstGeom prst="ellipse">
            <a:avLst/>
          </a:prstGeom>
          <a:solidFill>
            <a:srgbClr val="2463A5"/>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2802" y="1748790"/>
            <a:ext cx="10499598"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1</a:t>
            </a:r>
          </a:p>
        </p:txBody>
      </p:sp>
      <p:sp>
        <p:nvSpPr>
          <p:cNvPr id="12" name="TextBox 11"/>
          <p:cNvSpPr txBox="1"/>
          <p:nvPr/>
        </p:nvSpPr>
        <p:spPr>
          <a:xfrm>
            <a:off x="1309116" y="1721358"/>
            <a:ext cx="10273284"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Synthesize a workflow</a:t>
            </a:r>
          </a:p>
        </p:txBody>
      </p:sp>
      <p:sp>
        <p:nvSpPr>
          <p:cNvPr id="13" name="TextBox 12"/>
          <p:cNvSpPr txBox="1"/>
          <p:nvPr/>
        </p:nvSpPr>
        <p:spPr>
          <a:xfrm>
            <a:off x="1103376" y="2064258"/>
            <a:ext cx="10479024" cy="277749"/>
          </a:xfrm>
          <a:prstGeom prst="rect">
            <a:avLst/>
          </a:prstGeom>
          <a:noFill/>
        </p:spPr>
        <p:txBody>
          <a:bodyPr wrap="none" lIns="0" rIns="0" tIns="0" bIns="0">
            <a:spAutoFit/>
          </a:bodyPr>
          <a:lstStyle/>
          <a:p>
            <a:pPr>
              <a:spcBef>
                <a:spcPts val="0"/>
              </a:spcBef>
              <a:spcAft>
                <a:spcPts val="0"/>
              </a:spcAft>
              <a:defRPr sz="1458" b="1">
                <a:solidFill>
                  <a:srgbClr val="2463A5"/>
                </a:solidFill>
                <a:latin typeface="Arial"/>
              </a:defRPr>
            </a:pPr>
            <a:r>
              <a:t>LLM → executable Python</a:t>
            </a:r>
          </a:p>
        </p:txBody>
      </p:sp>
      <p:sp>
        <p:nvSpPr>
          <p:cNvPr id="14" name="TextBox 13"/>
          <p:cNvSpPr txBox="1"/>
          <p:nvPr/>
        </p:nvSpPr>
        <p:spPr>
          <a:xfrm>
            <a:off x="1103376" y="2359152"/>
            <a:ext cx="10479024"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Agents, prompts, tools and control flow</a:t>
            </a:r>
          </a:p>
        </p:txBody>
      </p:sp>
      <p:sp>
        <p:nvSpPr>
          <p:cNvPr id="15" name="TextBox 14"/>
          <p:cNvSpPr txBox="1"/>
          <p:nvPr/>
        </p:nvSpPr>
        <p:spPr>
          <a:xfrm>
            <a:off x="1103376" y="2578608"/>
            <a:ext cx="10479024"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Seed / template during initialization</a:t>
            </a:r>
          </a:p>
        </p:txBody>
      </p:sp>
      <p:sp>
        <p:nvSpPr>
          <p:cNvPr id="16" name="Oval 15"/>
          <p:cNvSpPr/>
          <p:nvPr/>
        </p:nvSpPr>
        <p:spPr>
          <a:xfrm>
            <a:off x="1144523"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50898"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57272"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270504" y="2866644"/>
            <a:ext cx="192024" cy="192024"/>
          </a:xfrm>
          <a:prstGeom prst="ellipse">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336548"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042922"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749296" y="2962656"/>
            <a:ext cx="514350" cy="0"/>
          </a:xfrm>
          <a:prstGeom prst="line">
            <a:avLst/>
          </a:prstGeom>
          <a:ln w="13716">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1956" y="2873502"/>
            <a:ext cx="10410444"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A</a:t>
            </a:r>
          </a:p>
        </p:txBody>
      </p:sp>
      <p:sp>
        <p:nvSpPr>
          <p:cNvPr id="24" name="TextBox 23"/>
          <p:cNvSpPr txBox="1"/>
          <p:nvPr/>
        </p:nvSpPr>
        <p:spPr>
          <a:xfrm>
            <a:off x="1878330" y="2873502"/>
            <a:ext cx="9704070"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B</a:t>
            </a:r>
          </a:p>
        </p:txBody>
      </p:sp>
      <p:sp>
        <p:nvSpPr>
          <p:cNvPr id="25" name="TextBox 24"/>
          <p:cNvSpPr txBox="1"/>
          <p:nvPr/>
        </p:nvSpPr>
        <p:spPr>
          <a:xfrm>
            <a:off x="2584704" y="2873502"/>
            <a:ext cx="8997696"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C</a:t>
            </a:r>
          </a:p>
        </p:txBody>
      </p:sp>
      <p:sp>
        <p:nvSpPr>
          <p:cNvPr id="26" name="TextBox 25"/>
          <p:cNvSpPr txBox="1"/>
          <p:nvPr/>
        </p:nvSpPr>
        <p:spPr>
          <a:xfrm>
            <a:off x="3297936" y="2873502"/>
            <a:ext cx="8284464" cy="185166"/>
          </a:xfrm>
          <a:prstGeom prst="rect">
            <a:avLst/>
          </a:prstGeom>
          <a:noFill/>
        </p:spPr>
        <p:txBody>
          <a:bodyPr wrap="none" lIns="0" rIns="0" tIns="0" bIns="0">
            <a:spAutoFit/>
          </a:bodyPr>
          <a:lstStyle/>
          <a:p>
            <a:pPr>
              <a:spcBef>
                <a:spcPts val="0"/>
              </a:spcBef>
              <a:spcAft>
                <a:spcPts val="0"/>
              </a:spcAft>
              <a:defRPr sz="971" b="1">
                <a:solidFill>
                  <a:srgbClr val="2463A5"/>
                </a:solidFill>
                <a:latin typeface="Arial"/>
              </a:defRPr>
            </a:pPr>
            <a:r>
              <a:t>D</a:t>
            </a:r>
          </a:p>
        </p:txBody>
      </p:sp>
      <p:sp>
        <p:nvSpPr>
          <p:cNvPr id="27" name="Rounded Rectangle 26"/>
          <p:cNvSpPr/>
          <p:nvPr/>
        </p:nvSpPr>
        <p:spPr>
          <a:xfrm>
            <a:off x="4381500" y="1632204"/>
            <a:ext cx="2948940" cy="1611630"/>
          </a:xfrm>
          <a:prstGeom prst="roundRect">
            <a:avLst>
              <a:gd name="adj" fmla="val 6808"/>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77512" y="1735074"/>
            <a:ext cx="205740" cy="205740"/>
          </a:xfrm>
          <a:prstGeom prst="ellipse">
            <a:avLst/>
          </a:prstGeom>
          <a:solidFill>
            <a:srgbClr val="087F82"/>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5518" y="1748790"/>
            <a:ext cx="7056882"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2</a:t>
            </a:r>
          </a:p>
        </p:txBody>
      </p:sp>
      <p:sp>
        <p:nvSpPr>
          <p:cNvPr id="30" name="TextBox 29"/>
          <p:cNvSpPr txBox="1"/>
          <p:nvPr/>
        </p:nvSpPr>
        <p:spPr>
          <a:xfrm>
            <a:off x="4751832" y="1721358"/>
            <a:ext cx="6830568"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Execute the workflow</a:t>
            </a:r>
          </a:p>
        </p:txBody>
      </p:sp>
      <p:sp>
        <p:nvSpPr>
          <p:cNvPr id="31" name="TextBox 30"/>
          <p:cNvSpPr txBox="1"/>
          <p:nvPr/>
        </p:nvSpPr>
        <p:spPr>
          <a:xfrm>
            <a:off x="4546092" y="2064258"/>
            <a:ext cx="7036307" cy="267462"/>
          </a:xfrm>
          <a:prstGeom prst="rect">
            <a:avLst/>
          </a:prstGeom>
          <a:noFill/>
        </p:spPr>
        <p:txBody>
          <a:bodyPr wrap="none" lIns="0" rIns="0" tIns="0" bIns="0">
            <a:spAutoFit/>
          </a:bodyPr>
          <a:lstStyle/>
          <a:p>
            <a:pPr>
              <a:spcBef>
                <a:spcPts val="0"/>
              </a:spcBef>
              <a:spcAft>
                <a:spcPts val="0"/>
              </a:spcAft>
              <a:defRPr sz="1404" b="1">
                <a:solidFill>
                  <a:srgbClr val="087F82"/>
                </a:solidFill>
                <a:latin typeface="Arial"/>
              </a:defRPr>
            </a:pPr>
            <a:r>
              <a:t>Sandboxed workflow runner</a:t>
            </a:r>
          </a:p>
        </p:txBody>
      </p:sp>
      <p:sp>
        <p:nvSpPr>
          <p:cNvPr id="32" name="TextBox 31"/>
          <p:cNvSpPr txBox="1"/>
          <p:nvPr/>
        </p:nvSpPr>
        <p:spPr>
          <a:xfrm>
            <a:off x="4546092" y="2366010"/>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Reset workspace to the initial inputs</a:t>
            </a:r>
          </a:p>
        </p:txBody>
      </p:sp>
      <p:sp>
        <p:nvSpPr>
          <p:cNvPr id="33" name="TextBox 32"/>
          <p:cNvSpPr txBox="1"/>
          <p:nvPr/>
        </p:nvSpPr>
        <p:spPr>
          <a:xfrm>
            <a:off x="4546092" y="2599182"/>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Run agents and scientific tools</a:t>
            </a:r>
          </a:p>
        </p:txBody>
      </p:sp>
      <p:sp>
        <p:nvSpPr>
          <p:cNvPr id="34" name="TextBox 33"/>
          <p:cNvSpPr txBox="1"/>
          <p:nvPr/>
        </p:nvSpPr>
        <p:spPr>
          <a:xfrm>
            <a:off x="4546092" y="2832353"/>
            <a:ext cx="7036307" cy="216027"/>
          </a:xfrm>
          <a:prstGeom prst="rect">
            <a:avLst/>
          </a:prstGeom>
          <a:noFill/>
        </p:spPr>
        <p:txBody>
          <a:bodyPr wrap="none" lIns="0" rIns="0" tIns="0" bIns="0">
            <a:spAutoFit/>
          </a:bodyPr>
          <a:lstStyle/>
          <a:p>
            <a:pPr>
              <a:spcBef>
                <a:spcPts val="0"/>
              </a:spcBef>
              <a:spcAft>
                <a:spcPts val="0"/>
              </a:spcAft>
              <a:defRPr sz="1134" b="0">
                <a:solidFill>
                  <a:srgbClr val="526779"/>
                </a:solidFill>
                <a:latin typeface="Arial"/>
              </a:defRPr>
            </a:pPr>
            <a:r>
              <a:t>Save scripts, logs, tables and figures</a:t>
            </a:r>
          </a:p>
        </p:txBody>
      </p:sp>
      <p:cxnSp>
        <p:nvCxnSpPr>
          <p:cNvPr id="35" name="Connector 34"/>
          <p:cNvCxnSpPr/>
          <p:nvPr/>
        </p:nvCxnSpPr>
        <p:spPr>
          <a:xfrm>
            <a:off x="3887724" y="2434590"/>
            <a:ext cx="493776" cy="0"/>
          </a:xfrm>
          <a:prstGeom prst="line">
            <a:avLst/>
          </a:prstGeom>
          <a:ln w="20574">
            <a:solidFill>
              <a:srgbClr val="2463A5"/>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330440" y="2434590"/>
            <a:ext cx="246888" cy="0"/>
          </a:xfrm>
          <a:prstGeom prst="line">
            <a:avLst/>
          </a:prstGeom>
          <a:ln w="20574">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77328" y="1769364"/>
            <a:ext cx="0" cy="665226"/>
          </a:xfrm>
          <a:prstGeom prst="line">
            <a:avLst/>
          </a:prstGeom>
          <a:ln w="20574">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577328" y="1769364"/>
            <a:ext cx="411480" cy="0"/>
          </a:xfrm>
          <a:prstGeom prst="line">
            <a:avLst/>
          </a:prstGeom>
          <a:ln w="20574">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824216" y="939546"/>
            <a:ext cx="3429000" cy="4107942"/>
          </a:xfrm>
          <a:prstGeom prst="roundRect">
            <a:avLst>
              <a:gd name="adj" fmla="val 3200"/>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20228" y="1042416"/>
            <a:ext cx="205740" cy="205740"/>
          </a:xfrm>
          <a:prstGeom prst="ellipse">
            <a:avLst/>
          </a:prstGeom>
          <a:solidFill>
            <a:srgbClr val="AF6425"/>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68234" y="1056132"/>
            <a:ext cx="3614166"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3</a:t>
            </a:r>
          </a:p>
        </p:txBody>
      </p:sp>
      <p:sp>
        <p:nvSpPr>
          <p:cNvPr id="42" name="TextBox 41"/>
          <p:cNvSpPr txBox="1"/>
          <p:nvPr/>
        </p:nvSpPr>
        <p:spPr>
          <a:xfrm>
            <a:off x="8194548" y="1028700"/>
            <a:ext cx="3387852"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Policy-BT verifier</a:t>
            </a:r>
          </a:p>
        </p:txBody>
      </p:sp>
      <p:sp>
        <p:nvSpPr>
          <p:cNvPr id="43" name="Rounded Rectangle 42"/>
          <p:cNvSpPr/>
          <p:nvPr/>
        </p:nvSpPr>
        <p:spPr>
          <a:xfrm>
            <a:off x="7988808" y="1385316"/>
            <a:ext cx="3099816" cy="768096"/>
          </a:xfrm>
          <a:prstGeom prst="roundRect">
            <a:avLst>
              <a:gd name="adj" fmla="val 10714"/>
            </a:avLst>
          </a:prstGeom>
          <a:solidFill>
            <a:srgbClr val="EDF8F6"/>
          </a:solidFill>
          <a:ln w="10287">
            <a:solidFill>
              <a:srgbClr val="08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25968" y="1481328"/>
            <a:ext cx="3456432" cy="257175"/>
          </a:xfrm>
          <a:prstGeom prst="rect">
            <a:avLst/>
          </a:prstGeom>
          <a:noFill/>
        </p:spPr>
        <p:txBody>
          <a:bodyPr wrap="none" lIns="0" rIns="0" tIns="0" bIns="0">
            <a:spAutoFit/>
          </a:bodyPr>
          <a:lstStyle/>
          <a:p>
            <a:pPr>
              <a:spcBef>
                <a:spcPts val="0"/>
              </a:spcBef>
              <a:spcAft>
                <a:spcPts val="0"/>
              </a:spcAft>
              <a:defRPr sz="1350" b="1">
                <a:solidFill>
                  <a:srgbClr val="087F82"/>
                </a:solidFill>
                <a:latin typeface="Arial"/>
              </a:defRPr>
            </a:pPr>
            <a:r>
              <a:t>Preserve + reproduce</a:t>
            </a:r>
          </a:p>
        </p:txBody>
      </p:sp>
      <p:sp>
        <p:nvSpPr>
          <p:cNvPr id="45" name="TextBox 44"/>
          <p:cNvSpPr txBox="1"/>
          <p:nvPr/>
        </p:nvSpPr>
        <p:spPr>
          <a:xfrm>
            <a:off x="8125968" y="1748790"/>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Owned snapshots; required .sh contract</a:t>
            </a:r>
          </a:p>
        </p:txBody>
      </p:sp>
      <p:sp>
        <p:nvSpPr>
          <p:cNvPr id="46" name="TextBox 45"/>
          <p:cNvSpPr txBox="1"/>
          <p:nvPr/>
        </p:nvSpPr>
        <p:spPr>
          <a:xfrm>
            <a:off x="8125968" y="196138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Fresh-venv rerun enabled by default</a:t>
            </a:r>
          </a:p>
        </p:txBody>
      </p:sp>
      <p:cxnSp>
        <p:nvCxnSpPr>
          <p:cNvPr id="47" name="Connector 46"/>
          <p:cNvCxnSpPr/>
          <p:nvPr/>
        </p:nvCxnSpPr>
        <p:spPr>
          <a:xfrm>
            <a:off x="9538716" y="2167128"/>
            <a:ext cx="0" cy="150875"/>
          </a:xfrm>
          <a:prstGeom prst="line">
            <a:avLst/>
          </a:prstGeom>
          <a:ln w="17145">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988808" y="2338578"/>
            <a:ext cx="3099816" cy="987551"/>
          </a:xfrm>
          <a:prstGeom prst="roundRect">
            <a:avLst>
              <a:gd name="adj" fmla="val 8333"/>
            </a:avLst>
          </a:prstGeom>
          <a:solidFill>
            <a:srgbClr val="EFF5FC"/>
          </a:solidFill>
          <a:ln w="10287">
            <a:solidFill>
              <a:srgbClr val="2463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25968" y="2434590"/>
            <a:ext cx="3456432" cy="257175"/>
          </a:xfrm>
          <a:prstGeom prst="rect">
            <a:avLst/>
          </a:prstGeom>
          <a:noFill/>
        </p:spPr>
        <p:txBody>
          <a:bodyPr wrap="none" lIns="0" rIns="0" tIns="0" bIns="0">
            <a:spAutoFit/>
          </a:bodyPr>
          <a:lstStyle/>
          <a:p>
            <a:pPr>
              <a:spcBef>
                <a:spcPts val="0"/>
              </a:spcBef>
              <a:spcAft>
                <a:spcPts val="0"/>
              </a:spcAft>
              <a:defRPr sz="1350" b="1">
                <a:solidFill>
                  <a:srgbClr val="2463A5"/>
                </a:solidFill>
                <a:latin typeface="Arial"/>
              </a:defRPr>
            </a:pPr>
            <a:r>
              <a:t>Code-first pairwise comparison</a:t>
            </a:r>
          </a:p>
        </p:txBody>
      </p:sp>
      <p:sp>
        <p:nvSpPr>
          <p:cNvPr id="50" name="TextBox 49"/>
          <p:cNvSpPr txBox="1"/>
          <p:nvPr/>
        </p:nvSpPr>
        <p:spPr>
          <a:xfrm>
            <a:off x="8125968" y="2702052"/>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Goal → fixed criteria + schema adapters</a:t>
            </a:r>
          </a:p>
        </p:txBody>
      </p:sp>
      <p:sp>
        <p:nvSpPr>
          <p:cNvPr id="51" name="TextBox 50"/>
          <p:cNvSpPr txBox="1"/>
          <p:nvPr/>
        </p:nvSpPr>
        <p:spPr>
          <a:xfrm>
            <a:off x="8125968" y="2914650"/>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One cached deterministic Python policy</a:t>
            </a:r>
          </a:p>
        </p:txBody>
      </p:sp>
      <p:sp>
        <p:nvSpPr>
          <p:cNvPr id="52" name="TextBox 51"/>
          <p:cNvSpPr txBox="1"/>
          <p:nvPr/>
        </p:nvSpPr>
        <p:spPr>
          <a:xfrm>
            <a:off x="8125968" y="312724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Relevant images may resolve code ties</a:t>
            </a:r>
          </a:p>
        </p:txBody>
      </p:sp>
      <p:cxnSp>
        <p:nvCxnSpPr>
          <p:cNvPr id="53" name="Connector 52"/>
          <p:cNvCxnSpPr/>
          <p:nvPr/>
        </p:nvCxnSpPr>
        <p:spPr>
          <a:xfrm>
            <a:off x="9538716" y="3339846"/>
            <a:ext cx="0" cy="157734"/>
          </a:xfrm>
          <a:prstGeom prst="line">
            <a:avLst/>
          </a:prstGeom>
          <a:ln w="17145">
            <a:solidFill>
              <a:srgbClr val="2463A5"/>
            </a:solidFill>
            <a:tailEnd type="triangle"/>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988808" y="3518153"/>
            <a:ext cx="3099816" cy="761238"/>
          </a:xfrm>
          <a:prstGeom prst="roundRect">
            <a:avLst>
              <a:gd name="adj" fmla="val 10810"/>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25968" y="3614166"/>
            <a:ext cx="3456432" cy="257175"/>
          </a:xfrm>
          <a:prstGeom prst="rect">
            <a:avLst/>
          </a:prstGeom>
          <a:noFill/>
        </p:spPr>
        <p:txBody>
          <a:bodyPr wrap="none" lIns="0" rIns="0" tIns="0" bIns="0">
            <a:spAutoFit/>
          </a:bodyPr>
          <a:lstStyle/>
          <a:p>
            <a:pPr>
              <a:spcBef>
                <a:spcPts val="0"/>
              </a:spcBef>
              <a:spcAft>
                <a:spcPts val="0"/>
              </a:spcAft>
              <a:defRPr sz="1350" b="1">
                <a:solidFill>
                  <a:srgbClr val="AF6425"/>
                </a:solidFill>
                <a:latin typeface="Arial"/>
              </a:defRPr>
            </a:pPr>
            <a:r>
              <a:t>Bradley–Terry tournament</a:t>
            </a:r>
          </a:p>
        </p:txBody>
      </p:sp>
      <p:sp>
        <p:nvSpPr>
          <p:cNvPr id="56" name="TextBox 55"/>
          <p:cNvSpPr txBox="1"/>
          <p:nvPr/>
        </p:nvSpPr>
        <p:spPr>
          <a:xfrm>
            <a:off x="8125968" y="388162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All generation pairs in the task session</a:t>
            </a:r>
          </a:p>
        </p:txBody>
      </p:sp>
      <p:sp>
        <p:nvSpPr>
          <p:cNvPr id="57" name="TextBox 56"/>
          <p:cNvSpPr txBox="1"/>
          <p:nvPr/>
        </p:nvSpPr>
        <p:spPr>
          <a:xfrm>
            <a:off x="8125968" y="4053078"/>
            <a:ext cx="3456432"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Refit every generation’s current reward</a:t>
            </a:r>
          </a:p>
        </p:txBody>
      </p:sp>
      <p:sp>
        <p:nvSpPr>
          <p:cNvPr id="58" name="Rounded Rectangle 57"/>
          <p:cNvSpPr/>
          <p:nvPr/>
        </p:nvSpPr>
        <p:spPr>
          <a:xfrm>
            <a:off x="7988808" y="4450842"/>
            <a:ext cx="3099816" cy="233172"/>
          </a:xfrm>
          <a:prstGeom prst="roundRect">
            <a:avLst>
              <a:gd name="adj" fmla="val 17647"/>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64246" y="4478274"/>
            <a:ext cx="3518153" cy="185166"/>
          </a:xfrm>
          <a:prstGeom prst="rect">
            <a:avLst/>
          </a:prstGeom>
          <a:noFill/>
        </p:spPr>
        <p:txBody>
          <a:bodyPr wrap="none" lIns="0" rIns="0" tIns="0" bIns="0">
            <a:spAutoFit/>
          </a:bodyPr>
          <a:lstStyle/>
          <a:p>
            <a:pPr>
              <a:spcBef>
                <a:spcPts val="0"/>
              </a:spcBef>
              <a:spcAft>
                <a:spcPts val="0"/>
              </a:spcAft>
              <a:defRPr sz="971" b="1">
                <a:solidFill>
                  <a:srgbClr val="AF6425"/>
                </a:solidFill>
                <a:latin typeface="Arial"/>
              </a:defRPr>
            </a:pPr>
            <a:r>
              <a:t>Numeric rewards + evidence-grounded diagnoses</a:t>
            </a:r>
          </a:p>
        </p:txBody>
      </p:sp>
      <p:sp>
        <p:nvSpPr>
          <p:cNvPr id="60" name="TextBox 59"/>
          <p:cNvSpPr txBox="1"/>
          <p:nvPr/>
        </p:nvSpPr>
        <p:spPr>
          <a:xfrm>
            <a:off x="7988808" y="4780026"/>
            <a:ext cx="3593592" cy="195453"/>
          </a:xfrm>
          <a:prstGeom prst="rect">
            <a:avLst/>
          </a:prstGeom>
          <a:noFill/>
        </p:spPr>
        <p:txBody>
          <a:bodyPr wrap="none" lIns="0" rIns="0" tIns="0" bIns="0">
            <a:spAutoFit/>
          </a:bodyPr>
          <a:lstStyle/>
          <a:p>
            <a:pPr>
              <a:spcBef>
                <a:spcPts val="0"/>
              </a:spcBef>
              <a:spcAft>
                <a:spcPts val="0"/>
              </a:spcAft>
              <a:defRPr sz="1026" b="0">
                <a:solidFill>
                  <a:srgbClr val="A84943"/>
                </a:solidFill>
                <a:latin typeface="Arial"/>
              </a:defRPr>
            </a:pPr>
            <a:r>
              <a:t>Reproduction failure → published reward 0</a:t>
            </a:r>
          </a:p>
        </p:txBody>
      </p:sp>
      <p:sp>
        <p:nvSpPr>
          <p:cNvPr id="61" name="Rounded Rectangle 60"/>
          <p:cNvSpPr/>
          <p:nvPr/>
        </p:nvSpPr>
        <p:spPr>
          <a:xfrm>
            <a:off x="4381500" y="3936492"/>
            <a:ext cx="2948940" cy="1110996"/>
          </a:xfrm>
          <a:prstGeom prst="roundRect">
            <a:avLst>
              <a:gd name="adj" fmla="val 9876"/>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477512" y="4039362"/>
            <a:ext cx="205740" cy="205740"/>
          </a:xfrm>
          <a:prstGeom prst="ellipse">
            <a:avLst/>
          </a:prstGeom>
          <a:solidFill>
            <a:srgbClr val="AF6425"/>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25518" y="4053078"/>
            <a:ext cx="7056882"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4</a:t>
            </a:r>
          </a:p>
        </p:txBody>
      </p:sp>
      <p:sp>
        <p:nvSpPr>
          <p:cNvPr id="64" name="TextBox 63"/>
          <p:cNvSpPr txBox="1"/>
          <p:nvPr/>
        </p:nvSpPr>
        <p:spPr>
          <a:xfrm>
            <a:off x="4751832" y="4025646"/>
            <a:ext cx="6830568"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QD archive + parent selection</a:t>
            </a:r>
          </a:p>
        </p:txBody>
      </p:sp>
      <p:sp>
        <p:nvSpPr>
          <p:cNvPr id="65" name="TextBox 64"/>
          <p:cNvSpPr txBox="1"/>
          <p:nvPr/>
        </p:nvSpPr>
        <p:spPr>
          <a:xfrm>
            <a:off x="4546092" y="4320540"/>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Refresh quality from current BT ratings</a:t>
            </a:r>
          </a:p>
        </p:txBody>
      </p:sp>
      <p:sp>
        <p:nvSpPr>
          <p:cNvPr id="66" name="TextBox 65"/>
          <p:cNvSpPr txBox="1"/>
          <p:nvPr/>
        </p:nvSpPr>
        <p:spPr>
          <a:xfrm>
            <a:off x="4546092" y="4512564"/>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Quality + code novelty − length penalty</a:t>
            </a:r>
          </a:p>
        </p:txBody>
      </p:sp>
      <p:sp>
        <p:nvSpPr>
          <p:cNvPr id="67" name="TextBox 66"/>
          <p:cNvSpPr txBox="1"/>
          <p:nvPr/>
        </p:nvSpPr>
        <p:spPr>
          <a:xfrm>
            <a:off x="4546092" y="4704588"/>
            <a:ext cx="7036307"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Retain survivors; select parent workflow(s)</a:t>
            </a:r>
          </a:p>
        </p:txBody>
      </p:sp>
      <p:sp>
        <p:nvSpPr>
          <p:cNvPr id="68" name="Rounded Rectangle 67"/>
          <p:cNvSpPr/>
          <p:nvPr/>
        </p:nvSpPr>
        <p:spPr>
          <a:xfrm>
            <a:off x="938784" y="3936492"/>
            <a:ext cx="2948940" cy="1110996"/>
          </a:xfrm>
          <a:prstGeom prst="roundRect">
            <a:avLst>
              <a:gd name="adj" fmla="val 9876"/>
            </a:avLst>
          </a:prstGeom>
          <a:solidFill>
            <a:srgbClr val="FFFFFF"/>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034796" y="4039362"/>
            <a:ext cx="205740" cy="205740"/>
          </a:xfrm>
          <a:prstGeom prst="ellipse">
            <a:avLst/>
          </a:prstGeom>
          <a:solidFill>
            <a:srgbClr val="7752A6"/>
          </a:solidFill>
          <a:ln w="10287">
            <a:solidFill>
              <a:srgbClr val="7752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82802" y="4053078"/>
            <a:ext cx="10499598" cy="195453"/>
          </a:xfrm>
          <a:prstGeom prst="rect">
            <a:avLst/>
          </a:prstGeom>
          <a:noFill/>
        </p:spPr>
        <p:txBody>
          <a:bodyPr wrap="none" lIns="0" rIns="0" tIns="0" bIns="0">
            <a:spAutoFit/>
          </a:bodyPr>
          <a:lstStyle/>
          <a:p>
            <a:pPr>
              <a:spcBef>
                <a:spcPts val="0"/>
              </a:spcBef>
              <a:spcAft>
                <a:spcPts val="0"/>
              </a:spcAft>
              <a:defRPr sz="1026" b="1">
                <a:solidFill>
                  <a:srgbClr val="FFFFFF"/>
                </a:solidFill>
                <a:latin typeface="Arial"/>
              </a:defRPr>
            </a:pPr>
            <a:r>
              <a:t>5</a:t>
            </a:r>
          </a:p>
        </p:txBody>
      </p:sp>
      <p:sp>
        <p:nvSpPr>
          <p:cNvPr id="71" name="TextBox 70"/>
          <p:cNvSpPr txBox="1"/>
          <p:nvPr/>
        </p:nvSpPr>
        <p:spPr>
          <a:xfrm>
            <a:off x="1309116" y="4025646"/>
            <a:ext cx="10273284" cy="257175"/>
          </a:xfrm>
          <a:prstGeom prst="rect">
            <a:avLst/>
          </a:prstGeom>
          <a:noFill/>
        </p:spPr>
        <p:txBody>
          <a:bodyPr wrap="none" lIns="0" rIns="0" tIns="0" bIns="0">
            <a:spAutoFit/>
          </a:bodyPr>
          <a:lstStyle/>
          <a:p>
            <a:pPr>
              <a:spcBef>
                <a:spcPts val="0"/>
              </a:spcBef>
              <a:spcAft>
                <a:spcPts val="0"/>
              </a:spcAft>
              <a:defRPr sz="1350" b="1">
                <a:solidFill>
                  <a:srgbClr val="182C40"/>
                </a:solidFill>
                <a:latin typeface="Arial"/>
              </a:defRPr>
            </a:pPr>
            <a:r>
              <a:t>Mutation or crossover</a:t>
            </a:r>
          </a:p>
        </p:txBody>
      </p:sp>
      <p:sp>
        <p:nvSpPr>
          <p:cNvPr id="72" name="TextBox 71"/>
          <p:cNvSpPr txBox="1"/>
          <p:nvPr/>
        </p:nvSpPr>
        <p:spPr>
          <a:xfrm>
            <a:off x="1103376" y="4320540"/>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Mutation: parent diagnosis → LLM directive</a:t>
            </a:r>
          </a:p>
        </p:txBody>
      </p:sp>
      <p:sp>
        <p:nvSpPr>
          <p:cNvPr id="73" name="TextBox 72"/>
          <p:cNvSpPr txBox="1"/>
          <p:nvPr/>
        </p:nvSpPr>
        <p:spPr>
          <a:xfrm>
            <a:off x="1103376" y="4512564"/>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Crossover: recombine selected parent code</a:t>
            </a:r>
          </a:p>
        </p:txBody>
      </p:sp>
      <p:sp>
        <p:nvSpPr>
          <p:cNvPr id="74" name="TextBox 73"/>
          <p:cNvSpPr txBox="1"/>
          <p:nvPr/>
        </p:nvSpPr>
        <p:spPr>
          <a:xfrm>
            <a:off x="1103376" y="4704588"/>
            <a:ext cx="10479024"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Use the selected parents’ own feedback</a:t>
            </a:r>
          </a:p>
        </p:txBody>
      </p:sp>
      <p:cxnSp>
        <p:nvCxnSpPr>
          <p:cNvPr id="75" name="Connector 74"/>
          <p:cNvCxnSpPr/>
          <p:nvPr/>
        </p:nvCxnSpPr>
        <p:spPr>
          <a:xfrm flipH="1">
            <a:off x="7330440" y="4560570"/>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357872" y="4286250"/>
            <a:ext cx="4224528"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ratings</a:t>
            </a:r>
          </a:p>
        </p:txBody>
      </p:sp>
      <p:cxnSp>
        <p:nvCxnSpPr>
          <p:cNvPr id="77" name="Connector 76"/>
          <p:cNvCxnSpPr/>
          <p:nvPr/>
        </p:nvCxnSpPr>
        <p:spPr>
          <a:xfrm flipH="1">
            <a:off x="3887724" y="4560570"/>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3922014" y="4286250"/>
            <a:ext cx="7660386"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parents</a:t>
            </a:r>
          </a:p>
        </p:txBody>
      </p:sp>
      <p:cxnSp>
        <p:nvCxnSpPr>
          <p:cNvPr id="79" name="Connector 78"/>
          <p:cNvCxnSpPr/>
          <p:nvPr/>
        </p:nvCxnSpPr>
        <p:spPr>
          <a:xfrm flipV="1">
            <a:off x="2413254" y="3243834"/>
            <a:ext cx="0" cy="692658"/>
          </a:xfrm>
          <a:prstGeom prst="line">
            <a:avLst/>
          </a:prstGeom>
          <a:ln w="20574">
            <a:solidFill>
              <a:srgbClr val="7752A6"/>
            </a:solidFill>
            <a:tailEnd type="triangle"/>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950" y="3422142"/>
            <a:ext cx="10458450" cy="205740"/>
          </a:xfrm>
          <a:prstGeom prst="rect">
            <a:avLst/>
          </a:prstGeom>
          <a:noFill/>
        </p:spPr>
        <p:txBody>
          <a:bodyPr wrap="none" lIns="0" rIns="0" tIns="0" bIns="0">
            <a:spAutoFit/>
          </a:bodyPr>
          <a:lstStyle/>
          <a:p>
            <a:pPr>
              <a:spcBef>
                <a:spcPts val="0"/>
              </a:spcBef>
              <a:spcAft>
                <a:spcPts val="0"/>
              </a:spcAft>
              <a:defRPr sz="1080" b="1">
                <a:solidFill>
                  <a:srgbClr val="7752A6"/>
                </a:solidFill>
                <a:latin typeface="Arial"/>
              </a:defRPr>
            </a:pPr>
            <a:r>
              <a:t>Next-generation</a:t>
            </a:r>
          </a:p>
        </p:txBody>
      </p:sp>
      <p:cxnSp>
        <p:nvCxnSpPr>
          <p:cNvPr id="81" name="Connector 80"/>
          <p:cNvCxnSpPr/>
          <p:nvPr/>
        </p:nvCxnSpPr>
        <p:spPr>
          <a:xfrm>
            <a:off x="3489960" y="3243834"/>
            <a:ext cx="0" cy="390906"/>
          </a:xfrm>
          <a:prstGeom prst="line">
            <a:avLst/>
          </a:prstGeom>
          <a:ln w="17145">
            <a:solidFill>
              <a:srgbClr val="2463A5"/>
            </a:solidFill>
            <a:prstDash val="dash"/>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489960" y="3634740"/>
            <a:ext cx="2366010" cy="0"/>
          </a:xfrm>
          <a:prstGeom prst="line">
            <a:avLst/>
          </a:prstGeom>
          <a:ln w="17145">
            <a:solidFill>
              <a:srgbClr val="2463A5"/>
            </a:solidFill>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855970" y="3634740"/>
            <a:ext cx="0" cy="301752"/>
          </a:xfrm>
          <a:prstGeom prst="line">
            <a:avLst/>
          </a:prstGeom>
          <a:ln w="17145">
            <a:solidFill>
              <a:srgbClr val="2463A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3723132" y="3477006"/>
            <a:ext cx="1872234" cy="253746"/>
          </a:xfrm>
          <a:prstGeom prst="rect">
            <a:avLst/>
          </a:prstGeom>
          <a:solidFill>
            <a:srgbClr val="FFFFFF"/>
          </a:solidFill>
          <a:ln w="10287">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805428" y="3518153"/>
            <a:ext cx="7776972" cy="195453"/>
          </a:xfrm>
          <a:prstGeom prst="rect">
            <a:avLst/>
          </a:prstGeom>
          <a:noFill/>
        </p:spPr>
        <p:txBody>
          <a:bodyPr wrap="none" lIns="0" rIns="0" tIns="0" bIns="0">
            <a:spAutoFit/>
          </a:bodyPr>
          <a:lstStyle/>
          <a:p>
            <a:pPr>
              <a:spcBef>
                <a:spcPts val="0"/>
              </a:spcBef>
              <a:spcAft>
                <a:spcPts val="0"/>
              </a:spcAft>
              <a:defRPr sz="1026" b="1">
                <a:solidFill>
                  <a:srgbClr val="2463A5"/>
                </a:solidFill>
                <a:latin typeface="Arial"/>
              </a:defRPr>
            </a:pPr>
            <a:r>
              <a:t>Code embedding → novelty</a:t>
            </a:r>
          </a:p>
        </p:txBody>
      </p:sp>
      <p:cxnSp>
        <p:nvCxnSpPr>
          <p:cNvPr id="86" name="Connector 85"/>
          <p:cNvCxnSpPr/>
          <p:nvPr/>
        </p:nvCxnSpPr>
        <p:spPr>
          <a:xfrm>
            <a:off x="9538716" y="5047488"/>
            <a:ext cx="0" cy="349758"/>
          </a:xfrm>
          <a:prstGeom prst="line">
            <a:avLst/>
          </a:prstGeom>
          <a:ln w="20574">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2413254" y="5397246"/>
            <a:ext cx="7125462" cy="0"/>
          </a:xfrm>
          <a:prstGeom prst="line">
            <a:avLst/>
          </a:prstGeom>
          <a:ln w="20574">
            <a:solidFill>
              <a:srgbClr val="087F82"/>
            </a:solidFill>
            <a:prstDash val="dash"/>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413254" y="5047488"/>
            <a:ext cx="0" cy="349758"/>
          </a:xfrm>
          <a:prstGeom prst="line">
            <a:avLst/>
          </a:prstGeom>
          <a:ln w="20574">
            <a:solidFill>
              <a:srgbClr val="087F8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3421380" y="5260086"/>
            <a:ext cx="3483864" cy="281178"/>
          </a:xfrm>
          <a:prstGeom prst="rect">
            <a:avLst/>
          </a:prstGeom>
          <a:solidFill>
            <a:srgbClr val="FFFFFF"/>
          </a:solidFill>
          <a:ln w="10287">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531108" y="5301234"/>
            <a:ext cx="8051292" cy="226314"/>
          </a:xfrm>
          <a:prstGeom prst="rect">
            <a:avLst/>
          </a:prstGeom>
          <a:noFill/>
        </p:spPr>
        <p:txBody>
          <a:bodyPr wrap="none" lIns="0" rIns="0" tIns="0" bIns="0">
            <a:spAutoFit/>
          </a:bodyPr>
          <a:lstStyle/>
          <a:p>
            <a:pPr>
              <a:spcBef>
                <a:spcPts val="0"/>
              </a:spcBef>
              <a:spcAft>
                <a:spcPts val="0"/>
              </a:spcAft>
              <a:defRPr sz="1188" b="1">
                <a:solidFill>
                  <a:srgbClr val="087F82"/>
                </a:solidFill>
                <a:latin typeface="Arial"/>
              </a:defRPr>
            </a:pPr>
            <a:r>
              <a:t>Selected-parent textual feedback → variation</a:t>
            </a:r>
          </a:p>
        </p:txBody>
      </p:sp>
      <p:sp>
        <p:nvSpPr>
          <p:cNvPr id="91" name="Rounded Rectangle 90"/>
          <p:cNvSpPr/>
          <p:nvPr/>
        </p:nvSpPr>
        <p:spPr>
          <a:xfrm>
            <a:off x="938784" y="5801868"/>
            <a:ext cx="6391656" cy="610362"/>
          </a:xfrm>
          <a:prstGeom prst="roundRect">
            <a:avLst>
              <a:gd name="adj" fmla="val 13483"/>
            </a:avLst>
          </a:prstGeom>
          <a:solidFill>
            <a:srgbClr val="EFF5FC"/>
          </a:solidFill>
          <a:ln w="10287">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89660" y="5897880"/>
            <a:ext cx="10492740" cy="236600"/>
          </a:xfrm>
          <a:prstGeom prst="rect">
            <a:avLst/>
          </a:prstGeom>
          <a:noFill/>
        </p:spPr>
        <p:txBody>
          <a:bodyPr wrap="none" lIns="0" rIns="0" tIns="0" bIns="0">
            <a:spAutoFit/>
          </a:bodyPr>
          <a:lstStyle/>
          <a:p>
            <a:pPr>
              <a:spcBef>
                <a:spcPts val="0"/>
              </a:spcBef>
              <a:spcAft>
                <a:spcPts val="0"/>
              </a:spcAft>
              <a:defRPr sz="1242" b="1">
                <a:solidFill>
                  <a:srgbClr val="2463A5"/>
                </a:solidFill>
                <a:latin typeface="Arial"/>
              </a:defRPr>
            </a:pPr>
            <a:r>
              <a:t>Repeat until the configured stop condition or generation limit</a:t>
            </a:r>
          </a:p>
        </p:txBody>
      </p:sp>
      <p:sp>
        <p:nvSpPr>
          <p:cNvPr id="93" name="TextBox 92"/>
          <p:cNvSpPr txBox="1"/>
          <p:nvPr/>
        </p:nvSpPr>
        <p:spPr>
          <a:xfrm>
            <a:off x="1089660" y="6158484"/>
            <a:ext cx="10492740"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Policy-BT auto mode: champion plateau, after the minimum number of generations.</a:t>
            </a:r>
          </a:p>
        </p:txBody>
      </p:sp>
      <p:sp>
        <p:nvSpPr>
          <p:cNvPr id="94" name="Rounded Rectangle 93"/>
          <p:cNvSpPr/>
          <p:nvPr/>
        </p:nvSpPr>
        <p:spPr>
          <a:xfrm>
            <a:off x="7824216" y="5726430"/>
            <a:ext cx="3429000" cy="685800"/>
          </a:xfrm>
          <a:prstGeom prst="roundRect">
            <a:avLst>
              <a:gd name="adj" fmla="val 12000"/>
            </a:avLst>
          </a:prstGeom>
          <a:solidFill>
            <a:srgbClr val="FFF5E9"/>
          </a:solidFill>
          <a:ln w="10287">
            <a:solidFill>
              <a:srgbClr val="AF64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961376" y="5822442"/>
            <a:ext cx="3621024" cy="257175"/>
          </a:xfrm>
          <a:prstGeom prst="rect">
            <a:avLst/>
          </a:prstGeom>
          <a:noFill/>
        </p:spPr>
        <p:txBody>
          <a:bodyPr wrap="none" lIns="0" rIns="0" tIns="0" bIns="0">
            <a:spAutoFit/>
          </a:bodyPr>
          <a:lstStyle/>
          <a:p>
            <a:pPr>
              <a:spcBef>
                <a:spcPts val="0"/>
              </a:spcBef>
              <a:spcAft>
                <a:spcPts val="0"/>
              </a:spcAft>
              <a:defRPr sz="1350" b="1">
                <a:solidFill>
                  <a:srgbClr val="AF6425"/>
                </a:solidFill>
                <a:latin typeface="Arial"/>
              </a:defRPr>
            </a:pPr>
            <a:r>
              <a:t>Restore the best workspace</a:t>
            </a:r>
          </a:p>
        </p:txBody>
      </p:sp>
      <p:sp>
        <p:nvSpPr>
          <p:cNvPr id="96" name="TextBox 95"/>
          <p:cNvSpPr txBox="1"/>
          <p:nvPr/>
        </p:nvSpPr>
        <p:spPr>
          <a:xfrm>
            <a:off x="7961376" y="6089904"/>
            <a:ext cx="3621024" cy="226314"/>
          </a:xfrm>
          <a:prstGeom prst="rect">
            <a:avLst/>
          </a:prstGeom>
          <a:noFill/>
        </p:spPr>
        <p:txBody>
          <a:bodyPr wrap="none" lIns="0" rIns="0" tIns="0" bIns="0">
            <a:spAutoFit/>
          </a:bodyPr>
          <a:lstStyle/>
          <a:p>
            <a:pPr>
              <a:spcBef>
                <a:spcPts val="0"/>
              </a:spcBef>
              <a:spcAft>
                <a:spcPts val="0"/>
              </a:spcAft>
              <a:defRPr sz="1188" b="0">
                <a:solidFill>
                  <a:srgbClr val="526779"/>
                </a:solidFill>
                <a:latin typeface="Arial"/>
              </a:defRPr>
            </a:pPr>
            <a:r>
              <a:t>Highest current BT rating—not the latest run</a:t>
            </a:r>
          </a:p>
        </p:txBody>
      </p:sp>
      <p:cxnSp>
        <p:nvCxnSpPr>
          <p:cNvPr id="97" name="Connector 96"/>
          <p:cNvCxnSpPr/>
          <p:nvPr/>
        </p:nvCxnSpPr>
        <p:spPr>
          <a:xfrm>
            <a:off x="7330440" y="6110478"/>
            <a:ext cx="493776" cy="0"/>
          </a:xfrm>
          <a:prstGeom prst="line">
            <a:avLst/>
          </a:prstGeom>
          <a:ln w="20574">
            <a:solidFill>
              <a:srgbClr val="AF6425"/>
            </a:solidFill>
            <a:tailEnd type="triangle"/>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938784" y="6590538"/>
            <a:ext cx="10643615" cy="205740"/>
          </a:xfrm>
          <a:prstGeom prst="rect">
            <a:avLst/>
          </a:prstGeom>
          <a:noFill/>
        </p:spPr>
        <p:txBody>
          <a:bodyPr wrap="none" lIns="0" rIns="0" tIns="0" bIns="0">
            <a:spAutoFit/>
          </a:bodyPr>
          <a:lstStyle/>
          <a:p>
            <a:pPr>
              <a:spcBef>
                <a:spcPts val="0"/>
              </a:spcBef>
              <a:spcAft>
                <a:spcPts val="0"/>
              </a:spcAft>
              <a:defRPr sz="1080" b="0">
                <a:solidFill>
                  <a:srgbClr val="526779"/>
                </a:solidFill>
                <a:latin typeface="Arial"/>
              </a:defRPr>
            </a:pPr>
            <a:r>
              <a:t>QD = quality–diversity.  Numeric rewards guide selection; textual diagnoses guide changes.  Benchmark grading is separate.</a:t>
            </a:r>
          </a:p>
        </p:txBody>
      </p:sp>
      <p:sp>
        <p:nvSpPr>
          <p:cNvPr id="99" name="TextBox 98"/>
          <p:cNvSpPr txBox="1"/>
          <p:nvPr/>
        </p:nvSpPr>
        <p:spPr>
          <a:xfrm>
            <a:off x="1123950" y="3600450"/>
            <a:ext cx="10458450" cy="205740"/>
          </a:xfrm>
          <a:prstGeom prst="rect">
            <a:avLst/>
          </a:prstGeom>
          <a:noFill/>
        </p:spPr>
        <p:txBody>
          <a:bodyPr wrap="none" lIns="0" rIns="0" tIns="0" bIns="0">
            <a:spAutoFit/>
          </a:bodyPr>
          <a:lstStyle/>
          <a:p>
            <a:pPr>
              <a:spcBef>
                <a:spcPts val="0"/>
              </a:spcBef>
              <a:spcAft>
                <a:spcPts val="0"/>
              </a:spcAft>
              <a:defRPr sz="1080" b="1">
                <a:solidFill>
                  <a:srgbClr val="7752A6"/>
                </a:solidFill>
                <a:latin typeface="Arial"/>
              </a:defRPr>
            </a:pPr>
            <a:r>
              <a:t>prompt</a:t>
            </a:r>
          </a:p>
        </p:txBody>
      </p:sp>
      <p:cxnSp>
        <p:nvCxnSpPr>
          <p:cNvPr id="100" name="Connector 99"/>
          <p:cNvCxnSpPr/>
          <p:nvPr/>
        </p:nvCxnSpPr>
        <p:spPr>
          <a:xfrm>
            <a:off x="11088624" y="4560570"/>
            <a:ext cx="294894" cy="0"/>
          </a:xfrm>
          <a:prstGeom prst="line">
            <a:avLst/>
          </a:prstGeom>
          <a:ln w="13716">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1383518" y="4560570"/>
            <a:ext cx="0" cy="1508760"/>
          </a:xfrm>
          <a:prstGeom prst="line">
            <a:avLst/>
          </a:prstGeom>
          <a:ln w="13716">
            <a:solidFill>
              <a:srgbClr val="AF6425"/>
            </a:solidFill>
            <a:prstDash val="dash"/>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1253216" y="6069330"/>
            <a:ext cx="130302" cy="0"/>
          </a:xfrm>
          <a:prstGeom prst="line">
            <a:avLst/>
          </a:prstGeom>
          <a:ln w="13716">
            <a:solidFill>
              <a:srgbClr val="AF642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7412736" y="5897880"/>
            <a:ext cx="4169664" cy="174879"/>
          </a:xfrm>
          <a:prstGeom prst="rect">
            <a:avLst/>
          </a:prstGeom>
          <a:noFill/>
        </p:spPr>
        <p:txBody>
          <a:bodyPr wrap="none" lIns="0" rIns="0" tIns="0" bIns="0">
            <a:spAutoFit/>
          </a:bodyPr>
          <a:lstStyle/>
          <a:p>
            <a:pPr>
              <a:spcBef>
                <a:spcPts val="0"/>
              </a:spcBef>
              <a:spcAft>
                <a:spcPts val="0"/>
              </a:spcAft>
              <a:defRPr sz="918" b="1">
                <a:solidFill>
                  <a:srgbClr val="AF6425"/>
                </a:solidFill>
                <a:latin typeface="Arial"/>
              </a:defRPr>
            </a:pPr>
            <a:r>
              <a:t>stop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